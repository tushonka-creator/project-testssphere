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8229600" cx="14630400"/>
  <p:notesSz cx="8229600" cy="14630400"/>
  <p:embeddedFontLst>
    <p:embeddedFont>
      <p:font typeface="Outfit ExtraBold"/>
      <p:bold r:id="rId14"/>
    </p:embeddedFont>
    <p:embeddedFont>
      <p:font typeface="Arim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jbRaU6BbpA7nvHg5aS633q2QgO1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Arimo-regular.fntdata"/><Relationship Id="rId14" Type="http://schemas.openxmlformats.org/officeDocument/2006/relationships/font" Target="fonts/OutfitExtraBold-bold.fntdata"/><Relationship Id="rId17" Type="http://schemas.openxmlformats.org/officeDocument/2006/relationships/font" Target="fonts/Arimo-italic.fntdata"/><Relationship Id="rId16" Type="http://schemas.openxmlformats.org/officeDocument/2006/relationships/font" Target="fonts/Arimo-bold.fntdata"/><Relationship Id="rId5" Type="http://schemas.openxmlformats.org/officeDocument/2006/relationships/slide" Target="slides/slide1.xml"/><Relationship Id="rId19" Type="http://customschemas.google.com/relationships/presentationmetadata" Target="metadata"/><Relationship Id="rId6" Type="http://schemas.openxmlformats.org/officeDocument/2006/relationships/slide" Target="slides/slide2.xml"/><Relationship Id="rId18" Type="http://schemas.openxmlformats.org/officeDocument/2006/relationships/font" Target="fonts/Arimo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/>
              <a:t>‹#›</a:t>
            </a:fld>
            <a:endParaRPr b="0" i="0" sz="1200" u="none" cap="none" strike="noStrike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" name="Google Shape;4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bg>
      <p:bgPr>
        <a:solidFill>
          <a:srgbClr val="000000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bg>
      <p:bgPr>
        <a:solidFill>
          <a:srgbClr val="000000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4" name="Google Shape;1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bg>
      <p:bgPr>
        <a:solidFill>
          <a:srgbClr val="000000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7" name="Google Shape;17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bg>
      <p:bgPr>
        <a:solidFill>
          <a:srgbClr val="000000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0" name="Google Shape;20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bg>
      <p:bgPr>
        <a:solidFill>
          <a:srgbClr val="000000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3" name="Google Shape;23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bg>
      <p:bgPr>
        <a:solidFill>
          <a:srgbClr val="000000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6" name="Google Shape;26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bg>
      <p:bgPr>
        <a:solidFill>
          <a:srgbClr val="000000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9" name="Google Shape;2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1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bg>
      <p:bgPr>
        <a:solidFill>
          <a:srgbClr val="000000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2" name="Google Shape;32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1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9 master">
  <p:cSld name="Slide 9 master">
    <p:bg>
      <p:bgPr>
        <a:solidFill>
          <a:srgbClr val="000000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5" name="Google Shape;35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1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"/>
          <p:cNvSpPr/>
          <p:nvPr/>
        </p:nvSpPr>
        <p:spPr>
          <a:xfrm>
            <a:off x="793790" y="3011448"/>
            <a:ext cx="6774537" cy="7087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4450"/>
              <a:buFont typeface="Outfit ExtraBold"/>
              <a:buNone/>
            </a:pPr>
            <a:r>
              <a:rPr b="1" i="0" lang="en-US" sz="445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Проект «Сфера Тестов»</a:t>
            </a:r>
            <a:endParaRPr b="0" i="0" sz="4450" u="none" cap="none" strike="noStrike"/>
          </a:p>
        </p:txBody>
      </p:sp>
      <p:sp>
        <p:nvSpPr>
          <p:cNvPr id="44" name="Google Shape;44;p1"/>
          <p:cNvSpPr/>
          <p:nvPr/>
        </p:nvSpPr>
        <p:spPr>
          <a:xfrm>
            <a:off x="793790" y="4173855"/>
            <a:ext cx="13042821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Веб-платформа для психологического и медицинского самотестирования</a:t>
            </a:r>
            <a:endParaRPr b="0" i="0" sz="1750" u="none" cap="none" strike="noStrike"/>
          </a:p>
        </p:txBody>
      </p:sp>
      <p:sp>
        <p:nvSpPr>
          <p:cNvPr id="45" name="Google Shape;45;p1"/>
          <p:cNvSpPr/>
          <p:nvPr/>
        </p:nvSpPr>
        <p:spPr>
          <a:xfrm>
            <a:off x="793790" y="4791908"/>
            <a:ext cx="2157055" cy="426244"/>
          </a:xfrm>
          <a:prstGeom prst="roundRect">
            <a:avLst>
              <a:gd fmla="val 17880" name="adj"/>
            </a:avLst>
          </a:prstGeom>
          <a:solidFill>
            <a:srgbClr val="D7D2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1"/>
          <p:cNvSpPr/>
          <p:nvPr/>
        </p:nvSpPr>
        <p:spPr>
          <a:xfrm>
            <a:off x="929878" y="4859893"/>
            <a:ext cx="1884878" cy="2902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400"/>
              <a:buFont typeface="Arimo"/>
              <a:buNone/>
            </a:pPr>
            <a:r>
              <a:rPr b="0" i="0" lang="en-US" sz="140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ТУШИН ИВАН · ИИ-72</a:t>
            </a:r>
            <a:endParaRPr b="0" i="0" sz="1400" u="none" cap="none" strike="noStrike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"/>
          <p:cNvSpPr/>
          <p:nvPr/>
        </p:nvSpPr>
        <p:spPr>
          <a:xfrm>
            <a:off x="793790" y="1689378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4450"/>
              <a:buFont typeface="Outfit ExtraBold"/>
              <a:buNone/>
            </a:pPr>
            <a:r>
              <a:rPr b="1" i="0" lang="en-US" sz="445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Проблема</a:t>
            </a:r>
            <a:endParaRPr b="0" i="0" sz="4450" u="none" cap="none" strike="noStrike"/>
          </a:p>
        </p:txBody>
      </p:sp>
      <p:sp>
        <p:nvSpPr>
          <p:cNvPr id="53" name="Google Shape;53;p2"/>
          <p:cNvSpPr/>
          <p:nvPr/>
        </p:nvSpPr>
        <p:spPr>
          <a:xfrm>
            <a:off x="793790" y="2851785"/>
            <a:ext cx="6407944" cy="1730812"/>
          </a:xfrm>
          <a:prstGeom prst="roundRect">
            <a:avLst>
              <a:gd fmla="val 8453" name="adj"/>
            </a:avLst>
          </a:prstGeom>
          <a:solidFill>
            <a:srgbClr val="FAFAFA">
              <a:alpha val="94901"/>
            </a:srgbClr>
          </a:solidFill>
          <a:ln cap="flat" cmpd="sng" w="30475">
            <a:solidFill>
              <a:srgbClr val="BDB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763310" y="2851785"/>
            <a:ext cx="121920" cy="1730812"/>
          </a:xfrm>
          <a:prstGeom prst="roundRect">
            <a:avLst>
              <a:gd fmla="val 78139" name="adj"/>
            </a:avLst>
          </a:prstGeom>
          <a:solidFill>
            <a:srgbClr val="5E4C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1142524" y="3109079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Платный доступ</a:t>
            </a:r>
            <a:endParaRPr b="0" i="0" sz="2200" u="none" cap="none" strike="noStrike"/>
          </a:p>
        </p:txBody>
      </p:sp>
      <p:sp>
        <p:nvSpPr>
          <p:cNvPr id="56" name="Google Shape;56;p2"/>
          <p:cNvSpPr/>
          <p:nvPr/>
        </p:nvSpPr>
        <p:spPr>
          <a:xfrm>
            <a:off x="1142524" y="3599497"/>
            <a:ext cx="5801916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Качественные тесты скрывают результаты за оплатой в конце</a:t>
            </a:r>
            <a:endParaRPr b="0" i="0" sz="1750" u="none" cap="none" strike="noStrike"/>
          </a:p>
        </p:txBody>
      </p:sp>
      <p:sp>
        <p:nvSpPr>
          <p:cNvPr id="57" name="Google Shape;57;p2"/>
          <p:cNvSpPr/>
          <p:nvPr/>
        </p:nvSpPr>
        <p:spPr>
          <a:xfrm>
            <a:off x="7428548" y="2851785"/>
            <a:ext cx="6408063" cy="1730812"/>
          </a:xfrm>
          <a:prstGeom prst="roundRect">
            <a:avLst>
              <a:gd fmla="val 8453" name="adj"/>
            </a:avLst>
          </a:prstGeom>
          <a:solidFill>
            <a:srgbClr val="FAFAFA">
              <a:alpha val="94901"/>
            </a:srgbClr>
          </a:solidFill>
          <a:ln cap="flat" cmpd="sng" w="30475">
            <a:solidFill>
              <a:srgbClr val="BDB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7398067" y="2851785"/>
            <a:ext cx="121920" cy="1730812"/>
          </a:xfrm>
          <a:prstGeom prst="roundRect">
            <a:avLst>
              <a:gd fmla="val 78139" name="adj"/>
            </a:avLst>
          </a:prstGeom>
          <a:solidFill>
            <a:srgbClr val="5E4C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7777282" y="3109079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Низкое качество</a:t>
            </a:r>
            <a:endParaRPr b="0" i="0" sz="2200" u="none" cap="none" strike="noStrike"/>
          </a:p>
        </p:txBody>
      </p:sp>
      <p:sp>
        <p:nvSpPr>
          <p:cNvPr id="60" name="Google Shape;60;p2"/>
          <p:cNvSpPr/>
          <p:nvPr/>
        </p:nvSpPr>
        <p:spPr>
          <a:xfrm>
            <a:off x="7777282" y="3599497"/>
            <a:ext cx="5802035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Развлекательные порталы предлагают антинаучные методики</a:t>
            </a:r>
            <a:endParaRPr b="0" i="0" sz="1750" u="none" cap="none" strike="noStrike"/>
          </a:p>
        </p:txBody>
      </p:sp>
      <p:sp>
        <p:nvSpPr>
          <p:cNvPr id="61" name="Google Shape;61;p2"/>
          <p:cNvSpPr/>
          <p:nvPr/>
        </p:nvSpPr>
        <p:spPr>
          <a:xfrm>
            <a:off x="793790" y="4809411"/>
            <a:ext cx="6407944" cy="1730812"/>
          </a:xfrm>
          <a:prstGeom prst="roundRect">
            <a:avLst>
              <a:gd fmla="val 8453" name="adj"/>
            </a:avLst>
          </a:prstGeom>
          <a:solidFill>
            <a:srgbClr val="FAFAFA">
              <a:alpha val="94901"/>
            </a:srgbClr>
          </a:solidFill>
          <a:ln cap="flat" cmpd="sng" w="30475">
            <a:solidFill>
              <a:srgbClr val="BDB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763310" y="4809411"/>
            <a:ext cx="121920" cy="1730812"/>
          </a:xfrm>
          <a:prstGeom prst="roundRect">
            <a:avLst>
              <a:gd fmla="val 78139" name="adj"/>
            </a:avLst>
          </a:prstGeom>
          <a:solidFill>
            <a:srgbClr val="5E4C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2"/>
          <p:cNvSpPr/>
          <p:nvPr/>
        </p:nvSpPr>
        <p:spPr>
          <a:xfrm>
            <a:off x="1142524" y="5066705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Поход к врачу</a:t>
            </a:r>
            <a:endParaRPr b="0" i="0" sz="2200" u="none" cap="none" strike="noStrike"/>
          </a:p>
        </p:txBody>
      </p:sp>
      <p:sp>
        <p:nvSpPr>
          <p:cNvPr id="64" name="Google Shape;64;p2"/>
          <p:cNvSpPr/>
          <p:nvPr/>
        </p:nvSpPr>
        <p:spPr>
          <a:xfrm>
            <a:off x="1142524" y="5557123"/>
            <a:ext cx="5801916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Дорого, долго и требует личного визита — барьер для первичной диагностики</a:t>
            </a:r>
            <a:endParaRPr b="0" i="0" sz="1750" u="none" cap="none" strike="noStrike"/>
          </a:p>
        </p:txBody>
      </p:sp>
      <p:sp>
        <p:nvSpPr>
          <p:cNvPr id="65" name="Google Shape;65;p2"/>
          <p:cNvSpPr/>
          <p:nvPr/>
        </p:nvSpPr>
        <p:spPr>
          <a:xfrm>
            <a:off x="7428548" y="4809411"/>
            <a:ext cx="6408063" cy="1730812"/>
          </a:xfrm>
          <a:prstGeom prst="roundRect">
            <a:avLst>
              <a:gd fmla="val 8453" name="adj"/>
            </a:avLst>
          </a:prstGeom>
          <a:solidFill>
            <a:srgbClr val="FAFAFA">
              <a:alpha val="94901"/>
            </a:srgbClr>
          </a:solidFill>
          <a:ln cap="flat" cmpd="sng" w="30475">
            <a:solidFill>
              <a:srgbClr val="BDB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"/>
          <p:cNvSpPr/>
          <p:nvPr/>
        </p:nvSpPr>
        <p:spPr>
          <a:xfrm>
            <a:off x="7398067" y="4809411"/>
            <a:ext cx="121920" cy="1730812"/>
          </a:xfrm>
          <a:prstGeom prst="roundRect">
            <a:avLst>
              <a:gd fmla="val 78139" name="adj"/>
            </a:avLst>
          </a:prstGeom>
          <a:solidFill>
            <a:srgbClr val="5E4CE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2"/>
          <p:cNvSpPr/>
          <p:nvPr/>
        </p:nvSpPr>
        <p:spPr>
          <a:xfrm>
            <a:off x="7777282" y="5066705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Разрозненность</a:t>
            </a:r>
            <a:endParaRPr b="0" i="0" sz="2200" u="none" cap="none" strike="noStrike"/>
          </a:p>
        </p:txBody>
      </p:sp>
      <p:sp>
        <p:nvSpPr>
          <p:cNvPr id="68" name="Google Shape;68;p2"/>
          <p:cNvSpPr/>
          <p:nvPr/>
        </p:nvSpPr>
        <p:spPr>
          <a:xfrm>
            <a:off x="7777282" y="5557123"/>
            <a:ext cx="5802035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Нет единой платформы с проверенными методиками по разным направлениям</a:t>
            </a:r>
            <a:endParaRPr b="0" i="0" sz="1750" u="none" cap="none" strike="noStrik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"/>
          <p:cNvSpPr/>
          <p:nvPr/>
        </p:nvSpPr>
        <p:spPr>
          <a:xfrm>
            <a:off x="793790" y="2381964"/>
            <a:ext cx="5670590" cy="7087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4450"/>
              <a:buFont typeface="Outfit ExtraBold"/>
              <a:buNone/>
            </a:pPr>
            <a:r>
              <a:rPr b="1" i="0" lang="en-US" sz="445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О проекте</a:t>
            </a:r>
            <a:endParaRPr b="0" i="0" sz="4450" u="none" cap="none" strike="noStrike"/>
          </a:p>
        </p:txBody>
      </p:sp>
      <p:sp>
        <p:nvSpPr>
          <p:cNvPr id="75" name="Google Shape;75;p3"/>
          <p:cNvSpPr/>
          <p:nvPr/>
        </p:nvSpPr>
        <p:spPr>
          <a:xfrm>
            <a:off x="793790" y="3544372"/>
            <a:ext cx="13042821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Современная веб-платформа для психологического и медицинского самотестирования — быстро, анонимно и бесплатно.</a:t>
            </a:r>
            <a:endParaRPr b="0" i="0" sz="1750" u="none" cap="none" strike="noStrike"/>
          </a:p>
        </p:txBody>
      </p:sp>
      <p:sp>
        <p:nvSpPr>
          <p:cNvPr id="76" name="Google Shape;76;p3"/>
          <p:cNvSpPr/>
          <p:nvPr/>
        </p:nvSpPr>
        <p:spPr>
          <a:xfrm>
            <a:off x="793790" y="4162425"/>
            <a:ext cx="4196358" cy="1685092"/>
          </a:xfrm>
          <a:prstGeom prst="roundRect">
            <a:avLst>
              <a:gd fmla="val 5654" name="adj"/>
            </a:avLst>
          </a:prstGeom>
          <a:solidFill>
            <a:srgbClr val="E9E6FA"/>
          </a:solidFill>
          <a:ln cap="flat" cmpd="sng" w="9525">
            <a:solidFill>
              <a:srgbClr val="BDB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3"/>
          <p:cNvSpPr/>
          <p:nvPr/>
        </p:nvSpPr>
        <p:spPr>
          <a:xfrm>
            <a:off x="1028224" y="4396859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Широкий охват</a:t>
            </a:r>
            <a:endParaRPr b="0" i="0" sz="2200" u="none" cap="none" strike="noStrike"/>
          </a:p>
        </p:txBody>
      </p:sp>
      <p:sp>
        <p:nvSpPr>
          <p:cNvPr id="78" name="Google Shape;78;p3"/>
          <p:cNvSpPr/>
          <p:nvPr/>
        </p:nvSpPr>
        <p:spPr>
          <a:xfrm>
            <a:off x="1028224" y="4887278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Тесты на аутизм, шкалы депрессии и стресса</a:t>
            </a:r>
            <a:endParaRPr b="0" i="0" sz="1750" u="none" cap="none" strike="noStrike"/>
          </a:p>
        </p:txBody>
      </p:sp>
      <p:sp>
        <p:nvSpPr>
          <p:cNvPr id="79" name="Google Shape;79;p3"/>
          <p:cNvSpPr/>
          <p:nvPr/>
        </p:nvSpPr>
        <p:spPr>
          <a:xfrm>
            <a:off x="5216962" y="4162425"/>
            <a:ext cx="4196358" cy="1685092"/>
          </a:xfrm>
          <a:prstGeom prst="roundRect">
            <a:avLst>
              <a:gd fmla="val 5654" name="adj"/>
            </a:avLst>
          </a:prstGeom>
          <a:solidFill>
            <a:srgbClr val="E9E6FA"/>
          </a:solidFill>
          <a:ln cap="flat" cmpd="sng" w="9525">
            <a:solidFill>
              <a:srgbClr val="BDB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5451396" y="4396859"/>
            <a:ext cx="3490674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Мгновенный результат</a:t>
            </a:r>
            <a:endParaRPr b="0" i="0" sz="2200" u="none" cap="none" strike="noStrike"/>
          </a:p>
        </p:txBody>
      </p:sp>
      <p:sp>
        <p:nvSpPr>
          <p:cNvPr id="81" name="Google Shape;81;p3"/>
          <p:cNvSpPr/>
          <p:nvPr/>
        </p:nvSpPr>
        <p:spPr>
          <a:xfrm>
            <a:off x="5451396" y="4887278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Профессиональная интерпретация сразу после прохождения</a:t>
            </a:r>
            <a:endParaRPr b="0" i="0" sz="1750" u="none" cap="none" strike="noStrike"/>
          </a:p>
        </p:txBody>
      </p:sp>
      <p:sp>
        <p:nvSpPr>
          <p:cNvPr id="82" name="Google Shape;82;p3"/>
          <p:cNvSpPr/>
          <p:nvPr/>
        </p:nvSpPr>
        <p:spPr>
          <a:xfrm>
            <a:off x="9640133" y="4162425"/>
            <a:ext cx="4196358" cy="1685092"/>
          </a:xfrm>
          <a:prstGeom prst="roundRect">
            <a:avLst>
              <a:gd fmla="val 5654" name="adj"/>
            </a:avLst>
          </a:prstGeom>
          <a:solidFill>
            <a:srgbClr val="E9E6FA"/>
          </a:solidFill>
          <a:ln cap="flat" cmpd="sng" w="9525">
            <a:solidFill>
              <a:srgbClr val="BDB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9874568" y="4396859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Анонимность</a:t>
            </a:r>
            <a:endParaRPr b="0" i="0" sz="2200" u="none" cap="none" strike="noStrike"/>
          </a:p>
        </p:txBody>
      </p:sp>
      <p:sp>
        <p:nvSpPr>
          <p:cNvPr id="84" name="Google Shape;84;p3"/>
          <p:cNvSpPr/>
          <p:nvPr/>
        </p:nvSpPr>
        <p:spPr>
          <a:xfrm>
            <a:off x="9874568" y="4887278"/>
            <a:ext cx="3727490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Диагностика без регистрации и сбора личных данных</a:t>
            </a:r>
            <a:endParaRPr b="0" i="0" sz="1750" u="none" cap="none" strike="noStrik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/>
          <p:nvPr/>
        </p:nvSpPr>
        <p:spPr>
          <a:xfrm>
            <a:off x="793790" y="1264444"/>
            <a:ext cx="9027914" cy="7087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4450"/>
              <a:buFont typeface="Outfit ExtraBold"/>
              <a:buNone/>
            </a:pPr>
            <a:r>
              <a:rPr b="1" i="0" lang="en-US" sz="445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Аналоги и позиционирование</a:t>
            </a:r>
            <a:endParaRPr b="0" i="0" sz="4450" u="none" cap="none" strike="noStrike"/>
          </a:p>
        </p:txBody>
      </p:sp>
      <p:sp>
        <p:nvSpPr>
          <p:cNvPr id="91" name="Google Shape;91;p4"/>
          <p:cNvSpPr/>
          <p:nvPr/>
        </p:nvSpPr>
        <p:spPr>
          <a:xfrm>
            <a:off x="793790" y="2568535"/>
            <a:ext cx="3008948" cy="2501622"/>
          </a:xfrm>
          <a:prstGeom prst="roundRect">
            <a:avLst>
              <a:gd fmla="val 3808" name="adj"/>
            </a:avLst>
          </a:prstGeom>
          <a:solidFill>
            <a:srgbClr val="E9E6FA"/>
          </a:solidFill>
          <a:ln cap="flat" cmpd="sng" w="9525">
            <a:solidFill>
              <a:srgbClr val="BDB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4"/>
          <p:cNvSpPr/>
          <p:nvPr/>
        </p:nvSpPr>
        <p:spPr>
          <a:xfrm>
            <a:off x="1028224" y="2802969"/>
            <a:ext cx="2540079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Психология.ру</a:t>
            </a:r>
            <a:endParaRPr b="0" i="0" sz="2200" u="none" cap="none" strike="noStrike"/>
          </a:p>
        </p:txBody>
      </p:sp>
      <p:sp>
        <p:nvSpPr>
          <p:cNvPr id="93" name="Google Shape;93;p4"/>
          <p:cNvSpPr/>
          <p:nvPr/>
        </p:nvSpPr>
        <p:spPr>
          <a:xfrm>
            <a:off x="1028224" y="3384113"/>
            <a:ext cx="2540079" cy="1088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Много контента, устаревший UX, избыточная реклама</a:t>
            </a:r>
            <a:endParaRPr b="0" i="0" sz="1750" u="none" cap="none" strike="noStrike"/>
          </a:p>
        </p:txBody>
      </p:sp>
      <p:sp>
        <p:nvSpPr>
          <p:cNvPr id="94" name="Google Shape;94;p4"/>
          <p:cNvSpPr/>
          <p:nvPr/>
        </p:nvSpPr>
        <p:spPr>
          <a:xfrm>
            <a:off x="4029551" y="2568535"/>
            <a:ext cx="3008948" cy="2501622"/>
          </a:xfrm>
          <a:prstGeom prst="roundRect">
            <a:avLst>
              <a:gd fmla="val 3808" name="adj"/>
            </a:avLst>
          </a:prstGeom>
          <a:solidFill>
            <a:srgbClr val="E9E6FA"/>
          </a:solidFill>
          <a:ln cap="flat" cmpd="sng" w="9525">
            <a:solidFill>
              <a:srgbClr val="BDB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4"/>
          <p:cNvSpPr/>
          <p:nvPr/>
        </p:nvSpPr>
        <p:spPr>
          <a:xfrm>
            <a:off x="4263985" y="2802969"/>
            <a:ext cx="2540079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Psychology Today</a:t>
            </a:r>
            <a:endParaRPr b="0" i="0" sz="2200" u="none" cap="none" strike="noStrike"/>
          </a:p>
        </p:txBody>
      </p:sp>
      <p:sp>
        <p:nvSpPr>
          <p:cNvPr id="96" name="Google Shape;96;p4"/>
          <p:cNvSpPr/>
          <p:nvPr/>
        </p:nvSpPr>
        <p:spPr>
          <a:xfrm>
            <a:off x="4263985" y="3384113"/>
            <a:ext cx="2540079" cy="145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Качественные тесты, англоязычный, узкоспециализированный</a:t>
            </a:r>
            <a:endParaRPr b="0" i="0" sz="1750" u="none" cap="none" strike="noStrike"/>
          </a:p>
        </p:txBody>
      </p:sp>
      <p:sp>
        <p:nvSpPr>
          <p:cNvPr id="97" name="Google Shape;97;p4"/>
          <p:cNvSpPr/>
          <p:nvPr/>
        </p:nvSpPr>
        <p:spPr>
          <a:xfrm>
            <a:off x="793790" y="5296972"/>
            <a:ext cx="6244709" cy="1412915"/>
          </a:xfrm>
          <a:prstGeom prst="roundRect">
            <a:avLst>
              <a:gd fmla="val 6743" name="adj"/>
            </a:avLst>
          </a:prstGeom>
          <a:solidFill>
            <a:srgbClr val="E9E6FA"/>
          </a:solidFill>
          <a:ln cap="flat" cmpd="sng" w="9525">
            <a:solidFill>
              <a:srgbClr val="BDB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"/>
          <p:cNvSpPr/>
          <p:nvPr/>
        </p:nvSpPr>
        <p:spPr>
          <a:xfrm>
            <a:off x="1028224" y="5531406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Headspace</a:t>
            </a:r>
            <a:endParaRPr b="0" i="0" sz="2200" u="none" cap="none" strike="noStrike"/>
          </a:p>
        </p:txBody>
      </p:sp>
      <p:sp>
        <p:nvSpPr>
          <p:cNvPr id="99" name="Google Shape;99;p4"/>
          <p:cNvSpPr/>
          <p:nvPr/>
        </p:nvSpPr>
        <p:spPr>
          <a:xfrm>
            <a:off x="1028224" y="6112550"/>
            <a:ext cx="5775841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Платная подписка, требует установки</a:t>
            </a:r>
            <a:endParaRPr b="0" i="0" sz="1750" u="none" cap="none" strike="noStrike"/>
          </a:p>
        </p:txBody>
      </p:sp>
      <p:sp>
        <p:nvSpPr>
          <p:cNvPr id="100" name="Google Shape;100;p4"/>
          <p:cNvSpPr/>
          <p:nvPr/>
        </p:nvSpPr>
        <p:spPr>
          <a:xfrm>
            <a:off x="7599521" y="3634145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Наша ниша</a:t>
            </a:r>
            <a:endParaRPr b="0" i="0" sz="2200" u="none" cap="none" strike="noStrike"/>
          </a:p>
        </p:txBody>
      </p:sp>
      <p:sp>
        <p:nvSpPr>
          <p:cNvPr id="101" name="Google Shape;101;p4"/>
          <p:cNvSpPr/>
          <p:nvPr/>
        </p:nvSpPr>
        <p:spPr>
          <a:xfrm>
            <a:off x="7599521" y="4215289"/>
            <a:ext cx="6244709" cy="145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Русскоязычная веб-платформа с научно верифицированными тестами, современным интерфейсом и полностью бесплатным доступом — без установки и регистрации.</a:t>
            </a:r>
            <a:endParaRPr b="0" i="0" sz="1750" u="none" cap="none" strike="noStrik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"/>
          <p:cNvSpPr/>
          <p:nvPr/>
        </p:nvSpPr>
        <p:spPr>
          <a:xfrm>
            <a:off x="793790" y="1353383"/>
            <a:ext cx="6309598" cy="7087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4450"/>
              <a:buFont typeface="Outfit ExtraBold"/>
              <a:buNone/>
            </a:pPr>
            <a:r>
              <a:rPr b="1" i="0" lang="en-US" sz="445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Наши преимущества</a:t>
            </a:r>
            <a:endParaRPr b="0" i="0" sz="4450" u="none" cap="none" strike="noStrike"/>
          </a:p>
        </p:txBody>
      </p:sp>
      <p:sp>
        <p:nvSpPr>
          <p:cNvPr id="108" name="Google Shape;108;p5"/>
          <p:cNvSpPr/>
          <p:nvPr/>
        </p:nvSpPr>
        <p:spPr>
          <a:xfrm>
            <a:off x="793790" y="3252907"/>
            <a:ext cx="3172897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Полная бесплатность</a:t>
            </a:r>
            <a:endParaRPr b="0" i="0" sz="2200" u="none" cap="none" strike="noStrike"/>
          </a:p>
        </p:txBody>
      </p:sp>
      <p:sp>
        <p:nvSpPr>
          <p:cNvPr id="109" name="Google Shape;109;p5"/>
          <p:cNvSpPr/>
          <p:nvPr/>
        </p:nvSpPr>
        <p:spPr>
          <a:xfrm>
            <a:off x="793790" y="3743325"/>
            <a:ext cx="6379607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Весь функционал и результаты доступны без оплаты</a:t>
            </a:r>
            <a:endParaRPr b="0" i="0" sz="1750" u="none" cap="none" strike="noStrike"/>
          </a:p>
        </p:txBody>
      </p:sp>
      <p:sp>
        <p:nvSpPr>
          <p:cNvPr id="110" name="Google Shape;110;p5"/>
          <p:cNvSpPr/>
          <p:nvPr/>
        </p:nvSpPr>
        <p:spPr>
          <a:xfrm>
            <a:off x="7456884" y="3252907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Анонимность</a:t>
            </a:r>
            <a:endParaRPr b="0" i="0" sz="2200" u="none" cap="none" strike="noStrike"/>
          </a:p>
        </p:txBody>
      </p:sp>
      <p:sp>
        <p:nvSpPr>
          <p:cNvPr id="111" name="Google Shape;111;p5"/>
          <p:cNvSpPr/>
          <p:nvPr/>
        </p:nvSpPr>
        <p:spPr>
          <a:xfrm>
            <a:off x="7456884" y="3743325"/>
            <a:ext cx="6379726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Диагностика без регистрации — критично для психологических тестов</a:t>
            </a:r>
            <a:endParaRPr b="0" i="0" sz="1750" u="none" cap="none" strike="noStrike"/>
          </a:p>
        </p:txBody>
      </p:sp>
      <p:sp>
        <p:nvSpPr>
          <p:cNvPr id="112" name="Google Shape;112;p5"/>
          <p:cNvSpPr/>
          <p:nvPr/>
        </p:nvSpPr>
        <p:spPr>
          <a:xfrm>
            <a:off x="793790" y="5659874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Современный стек</a:t>
            </a:r>
            <a:endParaRPr b="0" i="0" sz="2200" u="none" cap="none" strike="noStrike"/>
          </a:p>
        </p:txBody>
      </p:sp>
      <p:sp>
        <p:nvSpPr>
          <p:cNvPr id="113" name="Google Shape;113;p5"/>
          <p:cNvSpPr/>
          <p:nvPr/>
        </p:nvSpPr>
        <p:spPr>
          <a:xfrm>
            <a:off x="793790" y="6150293"/>
            <a:ext cx="6379607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Быстрый отклик, адаптивность под любые устройства, высокая безопасность</a:t>
            </a:r>
            <a:endParaRPr b="0" i="0" sz="1750" u="none" cap="none" strike="noStrike"/>
          </a:p>
        </p:txBody>
      </p:sp>
      <p:sp>
        <p:nvSpPr>
          <p:cNvPr id="114" name="Google Shape;114;p5"/>
          <p:cNvSpPr/>
          <p:nvPr/>
        </p:nvSpPr>
        <p:spPr>
          <a:xfrm>
            <a:off x="7456884" y="5659874"/>
            <a:ext cx="2965966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A2742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Масштабируемость</a:t>
            </a:r>
            <a:endParaRPr b="0" i="0" sz="2200" u="none" cap="none" strike="noStrike"/>
          </a:p>
        </p:txBody>
      </p:sp>
      <p:sp>
        <p:nvSpPr>
          <p:cNvPr id="115" name="Google Shape;115;p5"/>
          <p:cNvSpPr/>
          <p:nvPr/>
        </p:nvSpPr>
        <p:spPr>
          <a:xfrm>
            <a:off x="7456884" y="6150293"/>
            <a:ext cx="6379726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Архитектура позволяет легко добавлять новые категории тестов</a:t>
            </a:r>
            <a:endParaRPr b="0" i="0" sz="1750" u="none" cap="none" strike="noStrike"/>
          </a:p>
        </p:txBody>
      </p:sp>
      <p:pic>
        <p:nvPicPr>
          <p:cNvPr id="116" name="Google Shape;116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3798" y="2516461"/>
            <a:ext cx="453626" cy="4523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56866" y="2515800"/>
            <a:ext cx="453625" cy="45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3800" y="4922744"/>
            <a:ext cx="453624" cy="453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56867" y="4922758"/>
            <a:ext cx="453624" cy="453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/>
          <p:nvPr/>
        </p:nvSpPr>
        <p:spPr>
          <a:xfrm>
            <a:off x="793790" y="1258491"/>
            <a:ext cx="9958507" cy="7087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4450"/>
              <a:buFont typeface="Outfit ExtraBold"/>
              <a:buNone/>
            </a:pPr>
            <a:r>
              <a:rPr b="1" i="0" lang="en-US" sz="445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Экономика: модель Freemium-Ads</a:t>
            </a:r>
            <a:endParaRPr b="0" i="0" sz="4450" u="none" cap="none" strike="noStrike"/>
          </a:p>
        </p:txBody>
      </p:sp>
      <p:pic>
        <p:nvPicPr>
          <p:cNvPr descr="preencoded.png" id="126" name="Google Shape;12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3790" y="2562582"/>
            <a:ext cx="6244709" cy="3693438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/>
          <p:nvPr/>
        </p:nvSpPr>
        <p:spPr>
          <a:xfrm>
            <a:off x="2729329" y="2950440"/>
            <a:ext cx="138470" cy="144780"/>
          </a:xfrm>
          <a:prstGeom prst="rect">
            <a:avLst/>
          </a:prstGeom>
          <a:noFill/>
          <a:ln>
            <a:noFill/>
          </a:ln>
        </p:spPr>
        <p:txBody>
          <a:bodyPr anchorCtr="0" anchor="t" bIns="30475" lIns="30475" spcFirstLastPara="1" rIns="30475" wrap="square" tIns="304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Arial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3k</a:t>
            </a:r>
            <a:endParaRPr b="0" i="0" sz="650" u="none" cap="none" strike="noStrike"/>
          </a:p>
        </p:txBody>
      </p:sp>
      <p:sp>
        <p:nvSpPr>
          <p:cNvPr id="128" name="Google Shape;128;p6"/>
          <p:cNvSpPr/>
          <p:nvPr/>
        </p:nvSpPr>
        <p:spPr>
          <a:xfrm>
            <a:off x="2161044" y="3588996"/>
            <a:ext cx="189667" cy="144780"/>
          </a:xfrm>
          <a:prstGeom prst="rect">
            <a:avLst/>
          </a:prstGeom>
          <a:noFill/>
          <a:ln>
            <a:noFill/>
          </a:ln>
        </p:spPr>
        <p:txBody>
          <a:bodyPr anchorCtr="0" anchor="t" bIns="30475" lIns="30475" spcFirstLastPara="1" rIns="30475" wrap="square" tIns="304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Arial"/>
              <a:buNone/>
            </a:pPr>
            <a:r>
              <a:rPr b="0" i="0" lang="en-US" sz="6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500</a:t>
            </a:r>
            <a:endParaRPr b="0" i="0" sz="650" u="none" cap="none" strike="noStrike"/>
          </a:p>
        </p:txBody>
      </p:sp>
      <p:sp>
        <p:nvSpPr>
          <p:cNvPr id="129" name="Google Shape;129;p6"/>
          <p:cNvSpPr/>
          <p:nvPr/>
        </p:nvSpPr>
        <p:spPr>
          <a:xfrm>
            <a:off x="3353217" y="4227552"/>
            <a:ext cx="138470" cy="144780"/>
          </a:xfrm>
          <a:prstGeom prst="rect">
            <a:avLst/>
          </a:prstGeom>
          <a:noFill/>
          <a:ln>
            <a:noFill/>
          </a:ln>
        </p:spPr>
        <p:txBody>
          <a:bodyPr anchorCtr="0" anchor="t" bIns="30475" lIns="30475" spcFirstLastPara="1" rIns="30475" wrap="square" tIns="304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Arial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5k</a:t>
            </a:r>
            <a:endParaRPr b="0" i="0" sz="650" u="none" cap="none" strike="noStrike"/>
          </a:p>
        </p:txBody>
      </p:sp>
      <p:sp>
        <p:nvSpPr>
          <p:cNvPr id="130" name="Google Shape;130;p6"/>
          <p:cNvSpPr/>
          <p:nvPr/>
        </p:nvSpPr>
        <p:spPr>
          <a:xfrm>
            <a:off x="6426518" y="4866108"/>
            <a:ext cx="186452" cy="144780"/>
          </a:xfrm>
          <a:prstGeom prst="rect">
            <a:avLst/>
          </a:prstGeom>
          <a:noFill/>
          <a:ln>
            <a:noFill/>
          </a:ln>
        </p:spPr>
        <p:txBody>
          <a:bodyPr anchorCtr="0" anchor="t" bIns="30475" lIns="30475" spcFirstLastPara="1" rIns="30475" wrap="square" tIns="304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Arial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15k</a:t>
            </a:r>
            <a:endParaRPr b="0" i="0" sz="650" u="none" cap="none" strike="noStrike"/>
          </a:p>
        </p:txBody>
      </p:sp>
      <p:sp>
        <p:nvSpPr>
          <p:cNvPr id="131" name="Google Shape;131;p6"/>
          <p:cNvSpPr/>
          <p:nvPr/>
        </p:nvSpPr>
        <p:spPr>
          <a:xfrm>
            <a:off x="4286667" y="5504664"/>
            <a:ext cx="138470" cy="144780"/>
          </a:xfrm>
          <a:prstGeom prst="rect">
            <a:avLst/>
          </a:prstGeom>
          <a:noFill/>
          <a:ln>
            <a:noFill/>
          </a:ln>
        </p:spPr>
        <p:txBody>
          <a:bodyPr anchorCtr="0" anchor="t" bIns="30475" lIns="30475" spcFirstLastPara="1" rIns="30475" wrap="square" tIns="304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Arial"/>
              <a:buNone/>
            </a:pPr>
            <a:r>
              <a:rPr b="0" i="0" lang="en-US" sz="6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8k</a:t>
            </a:r>
            <a:endParaRPr b="0" i="0" sz="650" u="none" cap="none" strike="noStrike"/>
          </a:p>
        </p:txBody>
      </p:sp>
      <p:sp>
        <p:nvSpPr>
          <p:cNvPr id="132" name="Google Shape;132;p6"/>
          <p:cNvSpPr/>
          <p:nvPr/>
        </p:nvSpPr>
        <p:spPr>
          <a:xfrm>
            <a:off x="7599521" y="2534245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2200"/>
              <a:buFont typeface="Outfit ExtraBold"/>
              <a:buNone/>
            </a:pPr>
            <a:r>
              <a:rPr b="1" i="0" lang="en-US" sz="220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Доходы и расходы</a:t>
            </a:r>
            <a:endParaRPr b="0" i="0" sz="2200" u="none" cap="none" strike="noStrike"/>
          </a:p>
        </p:txBody>
      </p:sp>
      <p:sp>
        <p:nvSpPr>
          <p:cNvPr id="133" name="Google Shape;133;p6"/>
          <p:cNvSpPr/>
          <p:nvPr/>
        </p:nvSpPr>
        <p:spPr>
          <a:xfrm>
            <a:off x="7599521" y="3115389"/>
            <a:ext cx="6244709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1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Расходы:</a:t>
            </a: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 ~8 500 ₽/мес (хостинг, домен, верификация контента психологами)</a:t>
            </a:r>
            <a:endParaRPr b="0" i="0" sz="1750" u="none" cap="none" strike="noStrike"/>
          </a:p>
        </p:txBody>
      </p:sp>
      <p:sp>
        <p:nvSpPr>
          <p:cNvPr id="134" name="Google Shape;134;p6"/>
          <p:cNvSpPr/>
          <p:nvPr/>
        </p:nvSpPr>
        <p:spPr>
          <a:xfrm>
            <a:off x="7599521" y="4045268"/>
            <a:ext cx="6244709" cy="1088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1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Доходы:</a:t>
            </a: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 баннерная реклама (Google AdSense) — ~15 000 ₽/мес при 10 000 посетителей; CPA-партнёрство с клиниками — ~8 000 ₽/мес</a:t>
            </a:r>
            <a:endParaRPr b="0" i="0" sz="1750" u="none" cap="none" strike="noStrike"/>
          </a:p>
        </p:txBody>
      </p:sp>
      <p:sp>
        <p:nvSpPr>
          <p:cNvPr id="135" name="Google Shape;135;p6"/>
          <p:cNvSpPr/>
          <p:nvPr/>
        </p:nvSpPr>
        <p:spPr>
          <a:xfrm>
            <a:off x="7599521" y="5389126"/>
            <a:ext cx="6244709" cy="1326713"/>
          </a:xfrm>
          <a:prstGeom prst="roundRect">
            <a:avLst>
              <a:gd fmla="val 7181" name="adj"/>
            </a:avLst>
          </a:prstGeom>
          <a:solidFill>
            <a:srgbClr val="B6FC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6" name="Google Shape;13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26335" y="5733217"/>
            <a:ext cx="283488" cy="22681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6"/>
          <p:cNvSpPr/>
          <p:nvPr/>
        </p:nvSpPr>
        <p:spPr>
          <a:xfrm>
            <a:off x="8336637" y="5672614"/>
            <a:ext cx="5280779" cy="725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Выход в плюс: ~3–4 месяца после запуска при органическом росте аудитории</a:t>
            </a:r>
            <a:endParaRPr b="0" i="0" sz="1750" u="none" cap="none" strike="noStrik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"/>
          <p:cNvSpPr/>
          <p:nvPr/>
        </p:nvSpPr>
        <p:spPr>
          <a:xfrm>
            <a:off x="793790" y="623768"/>
            <a:ext cx="5103614" cy="637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4000"/>
              <a:buFont typeface="Outfit ExtraBold"/>
              <a:buNone/>
            </a:pPr>
            <a:r>
              <a:rPr b="1" i="0" lang="en-US" sz="400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Финансирование</a:t>
            </a:r>
            <a:endParaRPr b="0" i="0" sz="4000" u="none" cap="none" strike="noStrike"/>
          </a:p>
        </p:txBody>
      </p:sp>
      <p:pic>
        <p:nvPicPr>
          <p:cNvPr descr="preencoded.png" id="144" name="Google Shape;14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45895" y="1629132"/>
            <a:ext cx="11738491" cy="51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7"/>
          <p:cNvSpPr/>
          <p:nvPr/>
        </p:nvSpPr>
        <p:spPr>
          <a:xfrm>
            <a:off x="3437169" y="5083565"/>
            <a:ext cx="2057658" cy="3179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2000"/>
              <a:buFont typeface="Outfit ExtraBold"/>
              <a:buNone/>
            </a:pPr>
            <a:r>
              <a:rPr b="1" i="0" lang="en-US" sz="200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Старт</a:t>
            </a:r>
            <a:endParaRPr b="0" i="0" sz="2000" u="none" cap="none" strike="noStrike"/>
          </a:p>
        </p:txBody>
      </p:sp>
      <p:sp>
        <p:nvSpPr>
          <p:cNvPr id="146" name="Google Shape;146;p7"/>
          <p:cNvSpPr/>
          <p:nvPr/>
        </p:nvSpPr>
        <p:spPr>
          <a:xfrm>
            <a:off x="3437169" y="5491988"/>
            <a:ext cx="2057658" cy="724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600"/>
              <a:buFont typeface="Arimo"/>
              <a:buNone/>
            </a:pPr>
            <a:r>
              <a:rPr b="0" i="0" lang="en-US" sz="160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Собственные ресурсы на разработку</a:t>
            </a:r>
            <a:endParaRPr b="0" i="0" sz="1600" u="none" cap="none" strike="noStrike"/>
          </a:p>
        </p:txBody>
      </p:sp>
      <p:sp>
        <p:nvSpPr>
          <p:cNvPr id="147" name="Google Shape;147;p7"/>
          <p:cNvSpPr/>
          <p:nvPr/>
        </p:nvSpPr>
        <p:spPr>
          <a:xfrm>
            <a:off x="9214440" y="5246086"/>
            <a:ext cx="2057658" cy="3179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2000"/>
              <a:buFont typeface="Outfit ExtraBold"/>
              <a:buNone/>
            </a:pPr>
            <a:r>
              <a:rPr b="1" i="0" lang="en-US" sz="200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Масштаб</a:t>
            </a:r>
            <a:endParaRPr b="0" i="0" sz="2000" u="none" cap="none" strike="noStrike"/>
          </a:p>
        </p:txBody>
      </p:sp>
      <p:sp>
        <p:nvSpPr>
          <p:cNvPr id="148" name="Google Shape;148;p7"/>
          <p:cNvSpPr/>
          <p:nvPr/>
        </p:nvSpPr>
        <p:spPr>
          <a:xfrm>
            <a:off x="9214440" y="5654508"/>
            <a:ext cx="2057658" cy="4833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600"/>
              <a:buFont typeface="Arimo"/>
              <a:buNone/>
            </a:pPr>
            <a:r>
              <a:rPr b="0" i="0" lang="en-US" sz="160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Частные инвестиции для расширения</a:t>
            </a:r>
            <a:endParaRPr b="0" i="0" sz="1600" u="none" cap="none" strike="noStrike"/>
          </a:p>
        </p:txBody>
      </p:sp>
      <p:sp>
        <p:nvSpPr>
          <p:cNvPr id="149" name="Google Shape;149;p7"/>
          <p:cNvSpPr/>
          <p:nvPr/>
        </p:nvSpPr>
        <p:spPr>
          <a:xfrm>
            <a:off x="6342763" y="2169491"/>
            <a:ext cx="2057658" cy="3179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2000"/>
              <a:buFont typeface="Outfit ExtraBold"/>
              <a:buNone/>
            </a:pPr>
            <a:r>
              <a:rPr b="1" i="0" lang="en-US" sz="200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Рост</a:t>
            </a:r>
            <a:endParaRPr b="0" i="0" sz="2000" u="none" cap="none" strike="noStrike"/>
          </a:p>
        </p:txBody>
      </p:sp>
      <p:sp>
        <p:nvSpPr>
          <p:cNvPr id="150" name="Google Shape;150;p7"/>
          <p:cNvSpPr/>
          <p:nvPr/>
        </p:nvSpPr>
        <p:spPr>
          <a:xfrm>
            <a:off x="6342763" y="2577914"/>
            <a:ext cx="2057658" cy="4833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600"/>
              <a:buFont typeface="Arimo"/>
              <a:buNone/>
            </a:pPr>
            <a:r>
              <a:rPr b="0" i="0" lang="en-US" sz="160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Гранты Mental Health и EdTech</a:t>
            </a:r>
            <a:endParaRPr b="0" i="0" sz="1600" u="none" cap="none" strike="noStrike"/>
          </a:p>
        </p:txBody>
      </p:sp>
      <p:sp>
        <p:nvSpPr>
          <p:cNvPr id="151" name="Google Shape;151;p7"/>
          <p:cNvSpPr/>
          <p:nvPr/>
        </p:nvSpPr>
        <p:spPr>
          <a:xfrm>
            <a:off x="793790" y="6988731"/>
            <a:ext cx="13042821" cy="620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600"/>
              <a:buFont typeface="Arimo"/>
              <a:buNone/>
            </a:pPr>
            <a:r>
              <a:rPr b="0" i="0" lang="en-US" sz="160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Проект стартует на собственных ресурсах, затем планируется участие в грантовых программах и привлечение частных инвестиций для верификации контента и расширения платформы.</a:t>
            </a:r>
            <a:endParaRPr b="0" i="0" sz="1600" u="none" cap="none" strike="noStrik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/>
          <p:nvPr/>
        </p:nvSpPr>
        <p:spPr>
          <a:xfrm>
            <a:off x="793790" y="756404"/>
            <a:ext cx="3969425" cy="4961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3100"/>
              <a:buFont typeface="Outfit ExtraBold"/>
              <a:buNone/>
            </a:pPr>
            <a:r>
              <a:rPr b="1" i="0" lang="en-US" sz="310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Мой GitHub</a:t>
            </a:r>
            <a:endParaRPr b="0" i="0" sz="3100" u="none" cap="none" strike="noStrike"/>
          </a:p>
        </p:txBody>
      </p:sp>
      <p:pic>
        <p:nvPicPr>
          <p:cNvPr descr="preencoded.png" id="158" name="Google Shape;15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16016" y="1474827"/>
            <a:ext cx="5998250" cy="599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/>
          <p:cNvSpPr/>
          <p:nvPr/>
        </p:nvSpPr>
        <p:spPr>
          <a:xfrm>
            <a:off x="2766060" y="2869049"/>
            <a:ext cx="9098280" cy="978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203"/>
              </a:lnSpc>
              <a:spcBef>
                <a:spcPts val="0"/>
              </a:spcBef>
              <a:spcAft>
                <a:spcPts val="0"/>
              </a:spcAft>
              <a:buClr>
                <a:srgbClr val="231971"/>
              </a:buClr>
              <a:buSzPts val="6150"/>
              <a:buFont typeface="Outfit ExtraBold"/>
              <a:buNone/>
            </a:pPr>
            <a:r>
              <a:rPr b="1" i="0" lang="en-US" sz="6150" u="none" cap="none" strike="noStrike">
                <a:solidFill>
                  <a:srgbClr val="23197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Спасибо за внимание!</a:t>
            </a:r>
            <a:endParaRPr b="0" i="0" sz="6150" u="none" cap="none" strike="noStrike"/>
          </a:p>
        </p:txBody>
      </p:sp>
      <p:sp>
        <p:nvSpPr>
          <p:cNvPr id="165" name="Google Shape;165;p9"/>
          <p:cNvSpPr/>
          <p:nvPr/>
        </p:nvSpPr>
        <p:spPr>
          <a:xfrm>
            <a:off x="793790" y="4300895"/>
            <a:ext cx="13042821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A2742"/>
              </a:buClr>
              <a:buSzPts val="1750"/>
              <a:buFont typeface="Arimo"/>
              <a:buNone/>
            </a:pPr>
            <a:r>
              <a:rPr b="0" i="0" lang="en-US" sz="1750" u="none" cap="none" strike="noStrike">
                <a:solidFill>
                  <a:srgbClr val="2A2742"/>
                </a:solidFill>
                <a:latin typeface="Arimo"/>
                <a:ea typeface="Arimo"/>
                <a:cs typeface="Arimo"/>
                <a:sym typeface="Arimo"/>
              </a:rPr>
              <a:t>«Сфера Тестов» — доступная, анонимная и научно обоснованная диагностика для каждого</a:t>
            </a:r>
            <a:endParaRPr b="0" i="0" sz="1750" u="none" cap="none" strike="noStrike"/>
          </a:p>
        </p:txBody>
      </p:sp>
      <p:sp>
        <p:nvSpPr>
          <p:cNvPr id="166" name="Google Shape;166;p9"/>
          <p:cNvSpPr/>
          <p:nvPr/>
        </p:nvSpPr>
        <p:spPr>
          <a:xfrm>
            <a:off x="793790" y="4918948"/>
            <a:ext cx="2172295" cy="441484"/>
          </a:xfrm>
          <a:prstGeom prst="roundRect">
            <a:avLst>
              <a:gd fmla="val 17263" name="adj"/>
            </a:avLst>
          </a:prstGeom>
          <a:noFill/>
          <a:ln cap="flat" cmpd="sng" w="9525">
            <a:solidFill>
              <a:srgbClr val="5E4C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9"/>
          <p:cNvSpPr/>
          <p:nvPr/>
        </p:nvSpPr>
        <p:spPr>
          <a:xfrm>
            <a:off x="937498" y="4994553"/>
            <a:ext cx="1884878" cy="2902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714"/>
              </a:lnSpc>
              <a:spcBef>
                <a:spcPts val="0"/>
              </a:spcBef>
              <a:spcAft>
                <a:spcPts val="0"/>
              </a:spcAft>
              <a:buClr>
                <a:srgbClr val="5E4CE6"/>
              </a:buClr>
              <a:buSzPts val="1400"/>
              <a:buFont typeface="Arimo"/>
              <a:buNone/>
            </a:pPr>
            <a:r>
              <a:rPr b="0" i="0" lang="en-US" sz="1400" u="none" cap="none" strike="noStrike">
                <a:solidFill>
                  <a:srgbClr val="5E4CE6"/>
                </a:solidFill>
                <a:latin typeface="Arimo"/>
                <a:ea typeface="Arimo"/>
                <a:cs typeface="Arimo"/>
                <a:sym typeface="Arimo"/>
              </a:rPr>
              <a:t>ТУШИН ИВАН · ИИ-72</a:t>
            </a:r>
            <a:endParaRPr b="0" i="0" sz="1400" u="none" cap="none" strike="noStrik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2026-05-01T13:22:16Z</dcterms:created>
</cp:coreProperties>
</file>