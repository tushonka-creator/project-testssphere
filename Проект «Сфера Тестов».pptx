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Arimo"/>
      <p:regular r:id="rId14"/>
      <p:bold r:id="rId15"/>
      <p:italic r:id="rId16"/>
      <p:boldItalic r:id="rId17"/>
    </p:embeddedFont>
    <p:embeddedFont>
      <p:font typeface="Outfit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mo-bold.fntdata"/><Relationship Id="rId14" Type="http://schemas.openxmlformats.org/officeDocument/2006/relationships/font" Target="fonts/Arimo-regular.fntdata"/><Relationship Id="rId17" Type="http://schemas.openxmlformats.org/officeDocument/2006/relationships/font" Target="fonts/Arimo-boldItalic.fntdata"/><Relationship Id="rId16" Type="http://schemas.openxmlformats.org/officeDocument/2006/relationships/font" Target="fonts/Arimo-italic.fntdata"/><Relationship Id="rId5" Type="http://schemas.openxmlformats.org/officeDocument/2006/relationships/slide" Target="slides/slide1.xml"/><Relationship Id="rId19" Type="http://schemas.openxmlformats.org/officeDocument/2006/relationships/font" Target="fonts/Outfit-bold.fntdata"/><Relationship Id="rId6" Type="http://schemas.openxmlformats.org/officeDocument/2006/relationships/slide" Target="slides/slide2.xml"/><Relationship Id="rId18" Type="http://schemas.openxmlformats.org/officeDocument/2006/relationships/font" Target="fonts/Outfi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/>
          <p:nvPr/>
        </p:nvSpPr>
        <p:spPr>
          <a:xfrm>
            <a:off x="793790" y="3352086"/>
            <a:ext cx="646640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Проект «Сфера Тестов»</a:t>
            </a:r>
            <a:endParaRPr b="0" i="0" sz="4450" u="none" cap="none" strike="noStrike"/>
          </a:p>
        </p:txBody>
      </p:sp>
      <p:sp>
        <p:nvSpPr>
          <p:cNvPr id="44" name="Google Shape;44;p1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Выполнил </a:t>
            </a: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Тушин Иван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, группа ИИ-72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793790" y="298918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О проекте</a:t>
            </a:r>
            <a:endParaRPr b="0" i="0" sz="4450" u="none" cap="none" strike="noStrike"/>
          </a:p>
        </p:txBody>
      </p:sp>
      <p:sp>
        <p:nvSpPr>
          <p:cNvPr id="51" name="Google Shape;51;p13"/>
          <p:cNvSpPr/>
          <p:nvPr/>
        </p:nvSpPr>
        <p:spPr>
          <a:xfrm>
            <a:off x="793790" y="4151590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Современная веб-платформа для психологического и медицинского самотестирования. Быстро, анонимно и бесплатно — от тестов на дальтонизм и аутизм до шкал депрессии и стресса — с мгновенной профессиональной интерпретацией результата.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744260" y="584716"/>
            <a:ext cx="3455551" cy="43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700"/>
              <a:buFont typeface="Outfit"/>
              <a:buNone/>
            </a:pPr>
            <a:r>
              <a:rPr b="1" i="0" lang="en-US" sz="270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Мой GitHub</a:t>
            </a:r>
            <a:endParaRPr b="0" i="0" sz="2700" u="none" cap="none" strike="noStrike"/>
          </a:p>
        </p:txBody>
      </p:sp>
      <p:pic>
        <p:nvPicPr>
          <p:cNvPr descr="preencoded.png"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4023" y="1184910"/>
            <a:ext cx="6462117" cy="6462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793790" y="168937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Проблема</a:t>
            </a:r>
            <a:endParaRPr b="0" i="0" sz="4450" u="none" cap="none" strike="noStrike"/>
          </a:p>
        </p:txBody>
      </p:sp>
      <p:sp>
        <p:nvSpPr>
          <p:cNvPr id="65" name="Google Shape;65;p15"/>
          <p:cNvSpPr/>
          <p:nvPr/>
        </p:nvSpPr>
        <p:spPr>
          <a:xfrm>
            <a:off x="793790" y="2851785"/>
            <a:ext cx="6407944" cy="1730812"/>
          </a:xfrm>
          <a:prstGeom prst="roundRect">
            <a:avLst>
              <a:gd fmla="val 8453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763310" y="2851785"/>
            <a:ext cx="121920" cy="1730812"/>
          </a:xfrm>
          <a:prstGeom prst="roundRect">
            <a:avLst>
              <a:gd fmla="val 78139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1142524" y="310907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Платный доступ</a:t>
            </a:r>
            <a:endParaRPr b="0" i="0" sz="2200" u="none" cap="none" strike="noStrike"/>
          </a:p>
        </p:txBody>
      </p:sp>
      <p:sp>
        <p:nvSpPr>
          <p:cNvPr id="68" name="Google Shape;68;p15"/>
          <p:cNvSpPr/>
          <p:nvPr/>
        </p:nvSpPr>
        <p:spPr>
          <a:xfrm>
            <a:off x="1142524" y="3599497"/>
            <a:ext cx="58019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Качественные тесты скрывают результаты за оплатой в конце.</a:t>
            </a:r>
            <a:endParaRPr b="0" i="0" sz="1750" u="none" cap="none" strike="noStrike"/>
          </a:p>
        </p:txBody>
      </p:sp>
      <p:sp>
        <p:nvSpPr>
          <p:cNvPr id="69" name="Google Shape;69;p15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fmla="val 8453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7398067" y="2851785"/>
            <a:ext cx="121920" cy="1730812"/>
          </a:xfrm>
          <a:prstGeom prst="roundRect">
            <a:avLst>
              <a:gd fmla="val 78139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7777282" y="310907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Низкое качество</a:t>
            </a:r>
            <a:endParaRPr b="0" i="0" sz="2200" u="none" cap="none" strike="noStrike"/>
          </a:p>
        </p:txBody>
      </p:sp>
      <p:sp>
        <p:nvSpPr>
          <p:cNvPr id="72" name="Google Shape;72;p15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Развлекательные порталы предлагают антинаучные тесты, вводящие в заблуждение.</a:t>
            </a:r>
            <a:endParaRPr b="0" i="0" sz="1750" u="none" cap="none" strike="noStrike"/>
          </a:p>
        </p:txBody>
      </p:sp>
      <p:sp>
        <p:nvSpPr>
          <p:cNvPr id="73" name="Google Shape;73;p15"/>
          <p:cNvSpPr/>
          <p:nvPr/>
        </p:nvSpPr>
        <p:spPr>
          <a:xfrm>
            <a:off x="793790" y="4809411"/>
            <a:ext cx="6407944" cy="1730812"/>
          </a:xfrm>
          <a:prstGeom prst="roundRect">
            <a:avLst>
              <a:gd fmla="val 8453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63310" y="4809411"/>
            <a:ext cx="121920" cy="1730812"/>
          </a:xfrm>
          <a:prstGeom prst="roundRect">
            <a:avLst>
              <a:gd fmla="val 78139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1142524" y="5066705"/>
            <a:ext cx="290262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Сложный интерфейс</a:t>
            </a:r>
            <a:endParaRPr b="0" i="0" sz="2200" u="none" cap="none" strike="noStrike"/>
          </a:p>
        </p:txBody>
      </p:sp>
      <p:sp>
        <p:nvSpPr>
          <p:cNvPr id="76" name="Google Shape;76;p15"/>
          <p:cNvSpPr/>
          <p:nvPr/>
        </p:nvSpPr>
        <p:spPr>
          <a:xfrm>
            <a:off x="1142524" y="5557123"/>
            <a:ext cx="58019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Медицинские сайты устарели: перегружены текстом и рекламой.</a:t>
            </a:r>
            <a:endParaRPr b="0" i="0" sz="1750" u="none" cap="none" strike="noStrike"/>
          </a:p>
        </p:txBody>
      </p:sp>
      <p:sp>
        <p:nvSpPr>
          <p:cNvPr id="77" name="Google Shape;77;p15"/>
          <p:cNvSpPr/>
          <p:nvPr/>
        </p:nvSpPr>
        <p:spPr>
          <a:xfrm>
            <a:off x="7428548" y="4809411"/>
            <a:ext cx="6408063" cy="1730812"/>
          </a:xfrm>
          <a:prstGeom prst="roundRect">
            <a:avLst>
              <a:gd fmla="val 8453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7398067" y="4809411"/>
            <a:ext cx="121920" cy="1730812"/>
          </a:xfrm>
          <a:prstGeom prst="roundRect">
            <a:avLst>
              <a:gd fmla="val 78139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Разрозненность</a:t>
            </a:r>
            <a:endParaRPr b="0" i="0" sz="2200" u="none" cap="none" strike="noStrike"/>
          </a:p>
        </p:txBody>
      </p:sp>
      <p:sp>
        <p:nvSpPr>
          <p:cNvPr id="80" name="Google Shape;80;p15"/>
          <p:cNvSpPr/>
          <p:nvPr/>
        </p:nvSpPr>
        <p:spPr>
          <a:xfrm>
            <a:off x="7777282" y="5557123"/>
            <a:ext cx="58020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Нет единой платформы с проверенными методиками по разным направлениям.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793790" y="172140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Финансирование</a:t>
            </a:r>
            <a:endParaRPr b="0" i="0" sz="4450" u="none" cap="none" strike="noStrike"/>
          </a:p>
        </p:txBody>
      </p:sp>
      <p:sp>
        <p:nvSpPr>
          <p:cNvPr id="87" name="Google Shape;87;p16"/>
          <p:cNvSpPr/>
          <p:nvPr/>
        </p:nvSpPr>
        <p:spPr>
          <a:xfrm>
            <a:off x="793790" y="445770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88" name="Google Shape;88;p16"/>
          <p:cNvSpPr/>
          <p:nvPr/>
        </p:nvSpPr>
        <p:spPr>
          <a:xfrm>
            <a:off x="7599521" y="3025497"/>
            <a:ext cx="3008948" cy="3227427"/>
          </a:xfrm>
          <a:prstGeom prst="roundRect">
            <a:avLst>
              <a:gd fmla="val 3166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7833955" y="3259931"/>
            <a:ext cx="254007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Старт</a:t>
            </a:r>
            <a:endParaRPr b="0" i="0" sz="2200" u="none" cap="none" strike="noStrike"/>
          </a:p>
        </p:txBody>
      </p:sp>
      <p:sp>
        <p:nvSpPr>
          <p:cNvPr id="90" name="Google Shape;90;p16"/>
          <p:cNvSpPr/>
          <p:nvPr/>
        </p:nvSpPr>
        <p:spPr>
          <a:xfrm>
            <a:off x="7833955" y="3841075"/>
            <a:ext cx="254007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Собственные ресурсы на разработку.</a:t>
            </a:r>
            <a:endParaRPr b="0" i="0" sz="1750" u="none" cap="none" strike="noStrike"/>
          </a:p>
        </p:txBody>
      </p:sp>
      <p:sp>
        <p:nvSpPr>
          <p:cNvPr id="91" name="Google Shape;91;p16"/>
          <p:cNvSpPr/>
          <p:nvPr/>
        </p:nvSpPr>
        <p:spPr>
          <a:xfrm>
            <a:off x="10835283" y="3025497"/>
            <a:ext cx="3008948" cy="3227427"/>
          </a:xfrm>
          <a:prstGeom prst="roundRect">
            <a:avLst>
              <a:gd fmla="val 3166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1069717" y="3259931"/>
            <a:ext cx="254007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Развитие</a:t>
            </a:r>
            <a:endParaRPr b="0" i="0" sz="2200" u="none" cap="none" strike="noStrike"/>
          </a:p>
        </p:txBody>
      </p:sp>
      <p:sp>
        <p:nvSpPr>
          <p:cNvPr id="93" name="Google Shape;93;p16"/>
          <p:cNvSpPr/>
          <p:nvPr/>
        </p:nvSpPr>
        <p:spPr>
          <a:xfrm>
            <a:off x="11069717" y="3841075"/>
            <a:ext cx="2540079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Грантовые программы Mental Health и EdTech, частные инвестиции для расширения базы тестов и найма экспертов-психологов.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793790" y="230957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Аналоги</a:t>
            </a:r>
            <a:endParaRPr b="0" i="0" sz="4450" u="none" cap="none" strike="noStrike"/>
          </a:p>
        </p:txBody>
      </p:sp>
      <p:sp>
        <p:nvSpPr>
          <p:cNvPr id="100" name="Google Shape;100;p17"/>
          <p:cNvSpPr/>
          <p:nvPr/>
        </p:nvSpPr>
        <p:spPr>
          <a:xfrm>
            <a:off x="793790" y="3471982"/>
            <a:ext cx="4196358" cy="2448044"/>
          </a:xfrm>
          <a:prstGeom prst="roundRect">
            <a:avLst>
              <a:gd fmla="val 3892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1051084" y="3729276"/>
            <a:ext cx="348436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Психология.ру и аналоги</a:t>
            </a:r>
            <a:endParaRPr b="0" i="0" sz="2200" u="none" cap="none" strike="noStrike"/>
          </a:p>
        </p:txBody>
      </p:sp>
      <p:sp>
        <p:nvSpPr>
          <p:cNvPr id="102" name="Google Shape;102;p17"/>
          <p:cNvSpPr/>
          <p:nvPr/>
        </p:nvSpPr>
        <p:spPr>
          <a:xfrm>
            <a:off x="1051084" y="4219694"/>
            <a:ext cx="368177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Много контента, но устаревший UX и избыточная реклама.</a:t>
            </a:r>
            <a:endParaRPr b="0" i="0" sz="1750" u="none" cap="none" strike="noStrike"/>
          </a:p>
        </p:txBody>
      </p:sp>
      <p:sp>
        <p:nvSpPr>
          <p:cNvPr id="103" name="Google Shape;103;p17"/>
          <p:cNvSpPr/>
          <p:nvPr/>
        </p:nvSpPr>
        <p:spPr>
          <a:xfrm>
            <a:off x="5216962" y="3471982"/>
            <a:ext cx="4196358" cy="2448044"/>
          </a:xfrm>
          <a:prstGeom prst="roundRect">
            <a:avLst>
              <a:gd fmla="val 3892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5474256" y="3729276"/>
            <a:ext cx="368177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Psychology Today, Enchroma</a:t>
            </a:r>
            <a:endParaRPr b="0" i="0" sz="2200" u="none" cap="none" strike="noStrike"/>
          </a:p>
        </p:txBody>
      </p:sp>
      <p:sp>
        <p:nvSpPr>
          <p:cNvPr id="105" name="Google Shape;105;p17"/>
          <p:cNvSpPr/>
          <p:nvPr/>
        </p:nvSpPr>
        <p:spPr>
          <a:xfrm>
            <a:off x="5474256" y="4574024"/>
            <a:ext cx="36817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Качественные зарубежные сервисы, но часто англоязычные или узкоспециализированные.</a:t>
            </a:r>
            <a:endParaRPr b="0" i="0" sz="1750" u="none" cap="none" strike="noStrike"/>
          </a:p>
        </p:txBody>
      </p:sp>
      <p:sp>
        <p:nvSpPr>
          <p:cNvPr id="106" name="Google Shape;106;p17"/>
          <p:cNvSpPr/>
          <p:nvPr/>
        </p:nvSpPr>
        <p:spPr>
          <a:xfrm>
            <a:off x="9640133" y="3471982"/>
            <a:ext cx="4196358" cy="2448044"/>
          </a:xfrm>
          <a:prstGeom prst="roundRect">
            <a:avLst>
              <a:gd fmla="val 3892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9897427" y="3729276"/>
            <a:ext cx="343340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Мобильные приложения</a:t>
            </a:r>
            <a:endParaRPr b="0" i="0" sz="2200" u="none" cap="none" strike="noStrike"/>
          </a:p>
        </p:txBody>
      </p:sp>
      <p:sp>
        <p:nvSpPr>
          <p:cNvPr id="108" name="Google Shape;108;p17"/>
          <p:cNvSpPr/>
          <p:nvPr/>
        </p:nvSpPr>
        <p:spPr>
          <a:xfrm>
            <a:off x="9897427" y="4219694"/>
            <a:ext cx="36817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Большинство платные по подписке и требуют обязательной установки.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Моё преимущество</a:t>
            </a:r>
            <a:endParaRPr b="0" i="0" sz="4450" u="none" cap="none" strike="noStrike"/>
          </a:p>
        </p:txBody>
      </p:sp>
      <p:sp>
        <p:nvSpPr>
          <p:cNvPr id="115" name="Google Shape;115;p18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fmla="val 3675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390" y="241173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/>
          <p:nvPr/>
        </p:nvSpPr>
        <p:spPr>
          <a:xfrm>
            <a:off x="1028224" y="3131939"/>
            <a:ext cx="326731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Бесплатно и прозрачно</a:t>
            </a:r>
            <a:endParaRPr b="0" i="0" sz="2200" u="none" cap="none" strike="noStrike"/>
          </a:p>
        </p:txBody>
      </p:sp>
      <p:sp>
        <p:nvSpPr>
          <p:cNvPr id="119" name="Google Shape;119;p18"/>
          <p:cNvSpPr/>
          <p:nvPr/>
        </p:nvSpPr>
        <p:spPr>
          <a:xfrm>
            <a:off x="1028224" y="3622358"/>
            <a:ext cx="59390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Полный результат сразу, без скрытых платежей.</a:t>
            </a:r>
            <a:endParaRPr b="0" i="0" sz="1750" u="none" cap="none" strike="noStrike"/>
          </a:p>
        </p:txBody>
      </p:sp>
      <p:sp>
        <p:nvSpPr>
          <p:cNvPr id="120" name="Google Shape;120;p18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fmla="val 3675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0148" y="241173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Анонимность</a:t>
            </a:r>
            <a:endParaRPr b="0" i="0" sz="2200" u="none" cap="none" strike="noStrike"/>
          </a:p>
        </p:txBody>
      </p:sp>
      <p:sp>
        <p:nvSpPr>
          <p:cNvPr id="124" name="Google Shape;124;p1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Диагностика без регистрации — критично для психологических тестов.</a:t>
            </a:r>
            <a:endParaRPr b="0" i="0" sz="1750" u="none" cap="none" strike="noStrike"/>
          </a:p>
        </p:txBody>
      </p:sp>
      <p:sp>
        <p:nvSpPr>
          <p:cNvPr id="125" name="Google Shape;125;p18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fmla="val 3675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5390" y="5230892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Современный стек</a:t>
            </a:r>
            <a:endParaRPr b="0" i="0" sz="2200" u="none" cap="none" strike="noStrike"/>
          </a:p>
        </p:txBody>
      </p:sp>
      <p:sp>
        <p:nvSpPr>
          <p:cNvPr id="129" name="Google Shape;129;p18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Быстрый отклик, адаптивность, высокая безопасность данных.</a:t>
            </a:r>
            <a:endParaRPr b="0" i="0" sz="1750" u="none" cap="none" strike="noStrike"/>
          </a:p>
        </p:txBody>
      </p:sp>
      <p:sp>
        <p:nvSpPr>
          <p:cNvPr id="130" name="Google Shape;130;p18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fmla="val 3675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0148" y="5230892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Масштабируемость</a:t>
            </a:r>
            <a:endParaRPr b="0" i="0" sz="2200" u="none" cap="none" strike="noStrike"/>
          </a:p>
        </p:txBody>
      </p:sp>
      <p:sp>
        <p:nvSpPr>
          <p:cNvPr id="134" name="Google Shape;134;p18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Архитектура позволяет легко добавлять новые категории тестов.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793790" y="921068"/>
            <a:ext cx="945773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Экономика: модель Freemium-Ads</a:t>
            </a:r>
            <a:endParaRPr b="0" i="0" sz="4450" u="none" cap="none" strike="noStrike"/>
          </a:p>
        </p:txBody>
      </p:sp>
      <p:pic>
        <p:nvPicPr>
          <p:cNvPr descr="preencoded.png" id="141" name="Google Shape;1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00" y="2232184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/>
          <p:nvPr/>
        </p:nvSpPr>
        <p:spPr>
          <a:xfrm>
            <a:off x="1530906" y="2225159"/>
            <a:ext cx="401371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Бесплатно для пользователя</a:t>
            </a:r>
            <a:endParaRPr b="0" i="0" sz="2200" u="none" cap="none" strike="noStrike"/>
          </a:p>
        </p:txBody>
      </p:sp>
      <p:sp>
        <p:nvSpPr>
          <p:cNvPr id="143" name="Google Shape;143;p19"/>
          <p:cNvSpPr/>
          <p:nvPr/>
        </p:nvSpPr>
        <p:spPr>
          <a:xfrm>
            <a:off x="1530906" y="2806303"/>
            <a:ext cx="61873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Весь функционал доступен без оплаты — низкий порог входа.</a:t>
            </a:r>
            <a:endParaRPr b="0" i="0" sz="1750" u="none" cap="none" strike="noStrike"/>
          </a:p>
        </p:txBody>
      </p:sp>
      <p:pic>
        <p:nvPicPr>
          <p:cNvPr descr="preencoded.png"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00" y="3992761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/>
          <p:nvPr/>
        </p:nvSpPr>
        <p:spPr>
          <a:xfrm>
            <a:off x="1530906" y="3985736"/>
            <a:ext cx="39462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Монетизация через рекламу</a:t>
            </a:r>
            <a:endParaRPr b="0" i="0" sz="2200" u="none" cap="none" strike="noStrike"/>
          </a:p>
        </p:txBody>
      </p:sp>
      <p:sp>
        <p:nvSpPr>
          <p:cNvPr id="146" name="Google Shape;146;p19"/>
          <p:cNvSpPr/>
          <p:nvPr/>
        </p:nvSpPr>
        <p:spPr>
          <a:xfrm>
            <a:off x="1530906" y="4566880"/>
            <a:ext cx="61873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Баннерная реклама (Google AdSense, Яндекс Директ) в некритичных зонах — после результата.</a:t>
            </a:r>
            <a:endParaRPr b="0" i="0" sz="1750" u="none" cap="none" strike="noStrike"/>
          </a:p>
        </p:txBody>
      </p:sp>
      <p:pic>
        <p:nvPicPr>
          <p:cNvPr descr="preencoded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00" y="5753338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/>
          <p:nvPr/>
        </p:nvSpPr>
        <p:spPr>
          <a:xfrm>
            <a:off x="1530906" y="5746313"/>
            <a:ext cx="451413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Партнёрская программа (Future)</a:t>
            </a:r>
            <a:endParaRPr b="0" i="0" sz="2200" u="none" cap="none" strike="noStrike"/>
          </a:p>
        </p:txBody>
      </p:sp>
      <p:sp>
        <p:nvSpPr>
          <p:cNvPr id="149" name="Google Shape;149;p19"/>
          <p:cNvSpPr/>
          <p:nvPr/>
        </p:nvSpPr>
        <p:spPr>
          <a:xfrm>
            <a:off x="1530906" y="6327458"/>
            <a:ext cx="61873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Нативная рекомендация клиник по результатам теста (CPA-модель).</a:t>
            </a:r>
            <a:endParaRPr b="0" i="0" sz="1750" u="none" cap="none" strike="noStrike"/>
          </a:p>
        </p:txBody>
      </p:sp>
      <p:sp>
        <p:nvSpPr>
          <p:cNvPr id="150" name="Google Shape;150;p19"/>
          <p:cNvSpPr/>
          <p:nvPr/>
        </p:nvSpPr>
        <p:spPr>
          <a:xfrm>
            <a:off x="8279249" y="4457700"/>
            <a:ext cx="556486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/>
          <p:nvPr/>
        </p:nvSpPr>
        <p:spPr>
          <a:xfrm>
            <a:off x="1644491" y="3405902"/>
            <a:ext cx="11341298" cy="1417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8900"/>
              <a:buFont typeface="Outfit"/>
              <a:buNone/>
            </a:pPr>
            <a:r>
              <a:rPr b="1" i="0" lang="en-US" sz="890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Спасибо!</a:t>
            </a:r>
            <a:endParaRPr b="0" i="0" sz="89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