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Outfit ExtraBold"/>
      <p:bold r:id="rId12"/>
    </p:embeddedFont>
    <p:embeddedFont>
      <p:font typeface="Arim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VAqPDVsvrKcxC6wqRMorWEn0Y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mo-regular.fntdata"/><Relationship Id="rId12" Type="http://schemas.openxmlformats.org/officeDocument/2006/relationships/font" Target="fonts/Outfit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mo-italic.fntdata"/><Relationship Id="rId14" Type="http://schemas.openxmlformats.org/officeDocument/2006/relationships/font" Target="fonts/Arimo-bold.fntdata"/><Relationship Id="rId17" Type="http://customschemas.google.com/relationships/presentationmetadata" Target="metadata"/><Relationship Id="rId16" Type="http://schemas.openxmlformats.org/officeDocument/2006/relationships/font" Target="fonts/Arim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/>
          <p:nvPr/>
        </p:nvSpPr>
        <p:spPr>
          <a:xfrm>
            <a:off x="0" y="15646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/>
          <p:nvPr/>
        </p:nvSpPr>
        <p:spPr>
          <a:xfrm>
            <a:off x="3927872" y="3043118"/>
            <a:ext cx="67745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Проект «Сфера Тестов»</a:t>
            </a:r>
            <a:endParaRPr b="0" i="0" sz="4450" u="none" cap="none" strike="noStrike"/>
          </a:p>
        </p:txBody>
      </p:sp>
      <p:sp>
        <p:nvSpPr>
          <p:cNvPr id="38" name="Google Shape;38;p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Веб-платформа для психологического и медицинского самотестирования</a:t>
            </a:r>
            <a:endParaRPr b="0" i="0" sz="1750" u="none" cap="none" strike="noStrike"/>
          </a:p>
        </p:txBody>
      </p:sp>
      <p:sp>
        <p:nvSpPr>
          <p:cNvPr id="39" name="Google Shape;39;p1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ТУШИН ИВАН · ИИ-72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793790" y="160746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О проекте</a:t>
            </a:r>
            <a:endParaRPr b="0" i="0" sz="445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793790" y="276987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Современная веб-платформа для психологического и медицинского самотестирования — быстро, анонимно и бесплатно.</a:t>
            </a:r>
            <a:endParaRPr b="0" i="0" sz="1750" u="none" cap="none" strike="noStrike"/>
          </a:p>
        </p:txBody>
      </p:sp>
      <p:sp>
        <p:nvSpPr>
          <p:cNvPr id="47" name="Google Shape;47;p2"/>
          <p:cNvSpPr/>
          <p:nvPr/>
        </p:nvSpPr>
        <p:spPr>
          <a:xfrm>
            <a:off x="793790" y="3387923"/>
            <a:ext cx="6407944" cy="168509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028224" y="36223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Широкий охват</a:t>
            </a:r>
            <a:endParaRPr b="0" i="0" sz="2200" u="none" cap="none" strike="noStrike"/>
          </a:p>
        </p:txBody>
      </p:sp>
      <p:sp>
        <p:nvSpPr>
          <p:cNvPr id="49" name="Google Shape;49;p2"/>
          <p:cNvSpPr/>
          <p:nvPr/>
        </p:nvSpPr>
        <p:spPr>
          <a:xfrm>
            <a:off x="1028224" y="4112776"/>
            <a:ext cx="59390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Тесты на аутизм, шкалы депрессии и стресса</a:t>
            </a:r>
            <a:endParaRPr b="0" i="0" sz="1750" u="none" cap="none" strike="noStrike"/>
          </a:p>
        </p:txBody>
      </p:sp>
      <p:sp>
        <p:nvSpPr>
          <p:cNvPr id="50" name="Google Shape;50;p2"/>
          <p:cNvSpPr/>
          <p:nvPr/>
        </p:nvSpPr>
        <p:spPr>
          <a:xfrm>
            <a:off x="7428548" y="3387923"/>
            <a:ext cx="6408063" cy="168509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662982" y="3622358"/>
            <a:ext cx="349067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Мгновенный результат</a:t>
            </a:r>
            <a:endParaRPr b="0" i="0" sz="220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7662982" y="4112776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Профессиональная интерпретация сразу после прохождения</a:t>
            </a:r>
            <a:endParaRPr b="0" i="0" sz="1750" u="none" cap="none" strike="noStrike"/>
          </a:p>
        </p:txBody>
      </p:sp>
      <p:sp>
        <p:nvSpPr>
          <p:cNvPr id="53" name="Google Shape;53;p2"/>
          <p:cNvSpPr/>
          <p:nvPr/>
        </p:nvSpPr>
        <p:spPr>
          <a:xfrm>
            <a:off x="793790" y="5299829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28224" y="55342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Анонимность</a:t>
            </a:r>
            <a:endParaRPr b="0" i="0" sz="2200" u="none" cap="none" strike="noStrike"/>
          </a:p>
        </p:txBody>
      </p:sp>
      <p:sp>
        <p:nvSpPr>
          <p:cNvPr id="55" name="Google Shape;55;p2"/>
          <p:cNvSpPr/>
          <p:nvPr/>
        </p:nvSpPr>
        <p:spPr>
          <a:xfrm>
            <a:off x="1028224" y="6024682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Диагностика без регистрации и сбора личных данных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793790" y="1054298"/>
            <a:ext cx="1082182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Криптографическая защита данных</a:t>
            </a:r>
            <a:endParaRPr b="0" i="0" sz="4450" u="none" cap="none" strike="noStrike"/>
          </a:p>
        </p:txBody>
      </p:sp>
      <p:sp>
        <p:nvSpPr>
          <p:cNvPr id="62" name="Google Shape;62;p3"/>
          <p:cNvSpPr/>
          <p:nvPr/>
        </p:nvSpPr>
        <p:spPr>
          <a:xfrm>
            <a:off x="793790" y="1853803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550"/>
              <a:buFont typeface="Outfit ExtraBold"/>
              <a:buNone/>
            </a:pPr>
            <a:r>
              <a:rPr b="1" i="0" lang="en-US" sz="35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ГОСТ «Магма»</a:t>
            </a:r>
            <a:endParaRPr b="0" i="0" sz="3550" u="none" cap="none" strike="noStrike"/>
          </a:p>
        </p:txBody>
      </p:sp>
      <p:sp>
        <p:nvSpPr>
          <p:cNvPr id="63" name="Google Shape;63;p3"/>
          <p:cNvSpPr/>
          <p:nvPr/>
        </p:nvSpPr>
        <p:spPr>
          <a:xfrm>
            <a:off x="793790" y="2760940"/>
            <a:ext cx="6407944" cy="2093714"/>
          </a:xfrm>
          <a:prstGeom prst="roundRect">
            <a:avLst>
              <a:gd fmla="val 4550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051084" y="3018234"/>
            <a:ext cx="291119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Реализация шифра</a:t>
            </a:r>
            <a:endParaRPr b="0" i="0" sz="2200" u="none" cap="none" strike="noStrike"/>
          </a:p>
        </p:txBody>
      </p:sp>
      <p:sp>
        <p:nvSpPr>
          <p:cNvPr id="65" name="Google Shape;65;p3"/>
          <p:cNvSpPr/>
          <p:nvPr/>
        </p:nvSpPr>
        <p:spPr>
          <a:xfrm>
            <a:off x="1051084" y="3508653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В проекте реализован полноценный блочный шифр «Магма» (стандарт ГОСТ Р 34.12-2015) в режиме счетчика</a:t>
            </a:r>
            <a:endParaRPr b="0" i="0" sz="1750" u="none" cap="none" strike="noStrike"/>
          </a:p>
        </p:txBody>
      </p:sp>
      <p:sp>
        <p:nvSpPr>
          <p:cNvPr id="66" name="Google Shape;66;p3"/>
          <p:cNvSpPr/>
          <p:nvPr/>
        </p:nvSpPr>
        <p:spPr>
          <a:xfrm>
            <a:off x="7428548" y="2760940"/>
            <a:ext cx="6408063" cy="2093714"/>
          </a:xfrm>
          <a:prstGeom prst="roundRect">
            <a:avLst>
              <a:gd fmla="val 4550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685842" y="3018234"/>
            <a:ext cx="317408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Область применения</a:t>
            </a:r>
            <a:endParaRPr b="0" i="0" sz="2200" u="none" cap="none" strike="noStrike"/>
          </a:p>
        </p:txBody>
      </p:sp>
      <p:sp>
        <p:nvSpPr>
          <p:cNvPr id="68" name="Google Shape;68;p3"/>
          <p:cNvSpPr/>
          <p:nvPr/>
        </p:nvSpPr>
        <p:spPr>
          <a:xfrm>
            <a:off x="7685842" y="3508653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Используется для шифрования результатов тестов и обеспечения целостности файлов</a:t>
            </a:r>
            <a:endParaRPr b="0" i="0" sz="1750" u="none" cap="none" strike="noStrike"/>
          </a:p>
        </p:txBody>
      </p:sp>
      <p:sp>
        <p:nvSpPr>
          <p:cNvPr id="69" name="Google Shape;69;p3"/>
          <p:cNvSpPr/>
          <p:nvPr/>
        </p:nvSpPr>
        <p:spPr>
          <a:xfrm>
            <a:off x="793790" y="5081468"/>
            <a:ext cx="6407944" cy="2093714"/>
          </a:xfrm>
          <a:prstGeom prst="roundRect">
            <a:avLst>
              <a:gd fmla="val 4550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051084" y="5338763"/>
            <a:ext cx="349722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Гарантия безопасности</a:t>
            </a:r>
            <a:endParaRPr b="0" i="0" sz="2200" u="none" cap="none" strike="noStrike"/>
          </a:p>
        </p:txBody>
      </p:sp>
      <p:sp>
        <p:nvSpPr>
          <p:cNvPr id="71" name="Google Shape;71;p3"/>
          <p:cNvSpPr/>
          <p:nvPr/>
        </p:nvSpPr>
        <p:spPr>
          <a:xfrm>
            <a:off x="1051084" y="5829181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Даже если злоумышленник получит доступ к БД, он не сможет прочитать результаты тестов без секретного ключа</a:t>
            </a:r>
            <a:endParaRPr b="0" i="0" sz="175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7428548" y="5081468"/>
            <a:ext cx="6408063" cy="2093714"/>
          </a:xfrm>
          <a:prstGeom prst="roundRect">
            <a:avLst>
              <a:gd fmla="val 4550" name="adj"/>
            </a:avLst>
          </a:prstGeom>
          <a:solidFill>
            <a:srgbClr val="FAFAFA">
              <a:alpha val="94901"/>
            </a:srgbClr>
          </a:solidFill>
          <a:ln cap="flat" cmpd="sng" w="3047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685842" y="53387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Состояние данных</a:t>
            </a:r>
            <a:endParaRPr b="0" i="0" sz="220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7685842" y="5829181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Данные хранятся в зашифрованном виде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793790" y="1462921"/>
            <a:ext cx="834509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Защита от подбора паролей</a:t>
            </a:r>
            <a:endParaRPr b="0" i="0" sz="4450" u="none" cap="none" strike="noStrike"/>
          </a:p>
        </p:txBody>
      </p:sp>
      <p:sp>
        <p:nvSpPr>
          <p:cNvPr id="81" name="Google Shape;81;p4"/>
          <p:cNvSpPr/>
          <p:nvPr/>
        </p:nvSpPr>
        <p:spPr>
          <a:xfrm>
            <a:off x="793790" y="2262426"/>
            <a:ext cx="7509986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550"/>
              <a:buFont typeface="Outfit ExtraBold"/>
              <a:buNone/>
            </a:pPr>
            <a:r>
              <a:rPr b="1" i="0" lang="en-US" sz="35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Brute-force защита с django-axes</a:t>
            </a:r>
            <a:endParaRPr b="0" i="0" sz="3550" u="none" cap="none" strike="noStrike"/>
          </a:p>
        </p:txBody>
      </p:sp>
      <p:sp>
        <p:nvSpPr>
          <p:cNvPr id="82" name="Google Shape;82;p4"/>
          <p:cNvSpPr/>
          <p:nvPr/>
        </p:nvSpPr>
        <p:spPr>
          <a:xfrm>
            <a:off x="793790" y="3169563"/>
            <a:ext cx="6407944" cy="168509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028224" y="3403997"/>
            <a:ext cx="336149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Ограничение попыток</a:t>
            </a:r>
            <a:endParaRPr b="0" i="0" sz="2200" u="none" cap="none" strike="noStrike"/>
          </a:p>
        </p:txBody>
      </p:sp>
      <p:sp>
        <p:nvSpPr>
          <p:cNvPr id="84" name="Google Shape;84;p4"/>
          <p:cNvSpPr/>
          <p:nvPr/>
        </p:nvSpPr>
        <p:spPr>
          <a:xfrm>
            <a:off x="1028224" y="3894415"/>
            <a:ext cx="59390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Система блокирует вход после 5 неудачных попыток</a:t>
            </a:r>
            <a:endParaRPr b="0" i="0" sz="1750" u="none" cap="none" strike="noStrike"/>
          </a:p>
        </p:txBody>
      </p:sp>
      <p:sp>
        <p:nvSpPr>
          <p:cNvPr id="85" name="Google Shape;85;p4"/>
          <p:cNvSpPr/>
          <p:nvPr/>
        </p:nvSpPr>
        <p:spPr>
          <a:xfrm>
            <a:off x="7428548" y="3169563"/>
            <a:ext cx="6408063" cy="168509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662982" y="3403997"/>
            <a:ext cx="350424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Временная блокировка</a:t>
            </a:r>
            <a:endParaRPr b="0" i="0" sz="220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7662982" y="3894415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После блокировки пользователю придется ждать 14 минут</a:t>
            </a:r>
            <a:endParaRPr b="0" i="0" sz="1750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793790" y="5081468"/>
            <a:ext cx="6407944" cy="168509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028224" y="53159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Идентификация</a:t>
            </a:r>
            <a:endParaRPr b="0" i="0" sz="2200" u="none" cap="none" strike="noStrike"/>
          </a:p>
        </p:txBody>
      </p:sp>
      <p:sp>
        <p:nvSpPr>
          <p:cNvPr id="90" name="Google Shape;90;p4"/>
          <p:cNvSpPr/>
          <p:nvPr/>
        </p:nvSpPr>
        <p:spPr>
          <a:xfrm>
            <a:off x="1028224" y="5806321"/>
            <a:ext cx="59390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Блокировка происходит как по имени пользователя, так и по IP-адресу</a:t>
            </a:r>
            <a:endParaRPr b="0" i="0" sz="175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7428548" y="5081468"/>
            <a:ext cx="6408063" cy="168509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662982" y="53159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Результат</a:t>
            </a:r>
            <a:endParaRPr b="0" i="0" sz="22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7662982" y="5806321"/>
            <a:ext cx="593919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Защита от автоматизированных атак на пароли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793790" y="1636990"/>
            <a:ext cx="825865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Стандартная защита Django</a:t>
            </a:r>
            <a:endParaRPr b="0" i="0" sz="4450" u="none" cap="none" strike="noStrike"/>
          </a:p>
        </p:txBody>
      </p:sp>
      <p:sp>
        <p:nvSpPr>
          <p:cNvPr id="100" name="Google Shape;100;p5"/>
          <p:cNvSpPr/>
          <p:nvPr/>
        </p:nvSpPr>
        <p:spPr>
          <a:xfrm>
            <a:off x="793790" y="2436495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550"/>
              <a:buFont typeface="Outfit ExtraBold"/>
              <a:buNone/>
            </a:pPr>
            <a:r>
              <a:rPr b="1" i="0" lang="en-US" sz="35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Web Security</a:t>
            </a:r>
            <a:endParaRPr b="0" i="0" sz="3550" u="none" cap="none" strike="noStrike"/>
          </a:p>
        </p:txBody>
      </p:sp>
      <p:sp>
        <p:nvSpPr>
          <p:cNvPr id="101" name="Google Shape;101;p5"/>
          <p:cNvSpPr/>
          <p:nvPr/>
        </p:nvSpPr>
        <p:spPr>
          <a:xfrm>
            <a:off x="1530906" y="3343632"/>
            <a:ext cx="45500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CSRF (Cross-Site Request Forgery)</a:t>
            </a:r>
            <a:endParaRPr b="0" i="0" sz="2200" u="none" cap="none" strike="noStrike"/>
          </a:p>
        </p:txBody>
      </p:sp>
      <p:sp>
        <p:nvSpPr>
          <p:cNvPr id="102" name="Google Shape;102;p5"/>
          <p:cNvSpPr/>
          <p:nvPr/>
        </p:nvSpPr>
        <p:spPr>
          <a:xfrm>
            <a:off x="1530906" y="3834051"/>
            <a:ext cx="564249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Защита от подделки запросов со сторонних сайтов. Список доверенных источников ограничен в CSRF_TRUSTED_ORIGINS</a:t>
            </a:r>
            <a:endParaRPr b="0" i="0" sz="1750" u="none" cap="none" strike="noStrike"/>
          </a:p>
        </p:txBody>
      </p:sp>
      <p:sp>
        <p:nvSpPr>
          <p:cNvPr id="103" name="Google Shape;103;p5"/>
          <p:cNvSpPr/>
          <p:nvPr/>
        </p:nvSpPr>
        <p:spPr>
          <a:xfrm>
            <a:off x="8194000" y="3343632"/>
            <a:ext cx="34067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XSS (Cross-Site Scripting)</a:t>
            </a:r>
            <a:endParaRPr b="0" i="0" sz="2200" u="none" cap="none" strike="noStrike"/>
          </a:p>
        </p:txBody>
      </p:sp>
      <p:sp>
        <p:nvSpPr>
          <p:cNvPr id="104" name="Google Shape;104;p5"/>
          <p:cNvSpPr/>
          <p:nvPr/>
        </p:nvSpPr>
        <p:spPr>
          <a:xfrm>
            <a:off x="8194000" y="3834051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Средства Django автоматически экранируют данные в шаблонах</a:t>
            </a:r>
            <a:endParaRPr b="0" i="0" sz="1750" u="none" cap="none" strike="noStrike"/>
          </a:p>
        </p:txBody>
      </p:sp>
      <p:sp>
        <p:nvSpPr>
          <p:cNvPr id="105" name="Google Shape;105;p5"/>
          <p:cNvSpPr/>
          <p:nvPr/>
        </p:nvSpPr>
        <p:spPr>
          <a:xfrm>
            <a:off x="1530906" y="537638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Clickjacking</a:t>
            </a:r>
            <a:endParaRPr b="0" i="0" sz="2200" u="none" cap="none" strike="noStrike"/>
          </a:p>
        </p:txBody>
      </p:sp>
      <p:sp>
        <p:nvSpPr>
          <p:cNvPr id="106" name="Google Shape;106;p5"/>
          <p:cNvSpPr/>
          <p:nvPr/>
        </p:nvSpPr>
        <p:spPr>
          <a:xfrm>
            <a:off x="1530906" y="5866805"/>
            <a:ext cx="56424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Защита от встраивания сайта в чужие фреймы (XFrameOptionsMiddleware)</a:t>
            </a:r>
            <a:endParaRPr b="0" i="0" sz="1750" u="none" cap="none" strike="noStrike"/>
          </a:p>
        </p:txBody>
      </p:sp>
      <p:sp>
        <p:nvSpPr>
          <p:cNvPr id="107" name="Google Shape;107;p5"/>
          <p:cNvSpPr/>
          <p:nvPr/>
        </p:nvSpPr>
        <p:spPr>
          <a:xfrm>
            <a:off x="8194000" y="537638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1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Secure Session</a:t>
            </a:r>
            <a:endParaRPr b="0" i="0" sz="2200" u="none" cap="none" strike="noStrike"/>
          </a:p>
        </p:txBody>
      </p:sp>
      <p:sp>
        <p:nvSpPr>
          <p:cNvPr id="108" name="Google Shape;108;p5"/>
          <p:cNvSpPr/>
          <p:nvPr/>
        </p:nvSpPr>
        <p:spPr>
          <a:xfrm>
            <a:off x="8194000" y="5866805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Использование SecurityMiddleware для безопасной обработки заголовков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793790" y="749260"/>
            <a:ext cx="6248281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000"/>
              <a:buFont typeface="Outfit ExtraBold"/>
              <a:buNone/>
            </a:pPr>
            <a:r>
              <a:rPr b="1" i="0" lang="en-US" sz="40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Управление секретами</a:t>
            </a:r>
            <a:endParaRPr b="0" i="0" sz="400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793790" y="1460659"/>
            <a:ext cx="6354485" cy="51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200"/>
              <a:buFont typeface="Outfit ExtraBold"/>
              <a:buNone/>
            </a:pPr>
            <a:r>
              <a:rPr b="1" i="0" lang="en-US" sz="32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Безопасное хранение ключей</a:t>
            </a:r>
            <a:endParaRPr b="0" i="0" sz="3200" u="none" cap="none" strike="noStrike"/>
          </a:p>
        </p:txBody>
      </p:sp>
      <p:sp>
        <p:nvSpPr>
          <p:cNvPr id="116" name="Google Shape;116;p6"/>
          <p:cNvSpPr/>
          <p:nvPr/>
        </p:nvSpPr>
        <p:spPr>
          <a:xfrm>
            <a:off x="793790" y="2246471"/>
            <a:ext cx="6429494" cy="2954655"/>
          </a:xfrm>
          <a:prstGeom prst="roundRect">
            <a:avLst>
              <a:gd fmla="val 2902" name="adj"/>
            </a:avLst>
          </a:prstGeom>
          <a:solidFill>
            <a:srgbClr val="FAFAFA">
              <a:alpha val="94901"/>
            </a:srgbClr>
          </a:solidFill>
          <a:ln cap="flat" cmpd="sng" w="22850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16650" y="2269331"/>
            <a:ext cx="6383774" cy="612338"/>
          </a:xfrm>
          <a:prstGeom prst="roundRect">
            <a:avLst>
              <a:gd fmla="val 9522" name="adj"/>
            </a:avLst>
          </a:prstGeom>
          <a:solidFill>
            <a:srgbClr val="E9E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855482" y="2380297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400"/>
              <a:buFont typeface="Outfit ExtraBold"/>
              <a:buNone/>
            </a:pPr>
            <a:r>
              <a:rPr b="1" i="0" lang="en-US" sz="24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</a:t>
            </a:r>
            <a:endParaRPr b="0" i="0" sz="2400" u="none" cap="none" strike="noStrike"/>
          </a:p>
        </p:txBody>
      </p:sp>
      <p:sp>
        <p:nvSpPr>
          <p:cNvPr id="119" name="Google Shape;119;p6"/>
          <p:cNvSpPr/>
          <p:nvPr/>
        </p:nvSpPr>
        <p:spPr>
          <a:xfrm>
            <a:off x="1020723" y="306538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00"/>
              <a:buFont typeface="Outfit ExtraBold"/>
              <a:buNone/>
            </a:pPr>
            <a:r>
              <a:rPr b="1" i="0" lang="en-US" sz="20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Не зашиты в коде</a:t>
            </a:r>
            <a:endParaRPr b="0" i="0" sz="2000" u="none" cap="none" strike="noStrike"/>
          </a:p>
        </p:txBody>
      </p:sp>
      <p:sp>
        <p:nvSpPr>
          <p:cNvPr id="120" name="Google Shape;120;p6"/>
          <p:cNvSpPr/>
          <p:nvPr/>
        </p:nvSpPr>
        <p:spPr>
          <a:xfrm>
            <a:off x="1020723" y="3494365"/>
            <a:ext cx="5975628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Все критические данные не зашиты в коде</a:t>
            </a:r>
            <a:endParaRPr b="0" i="0" sz="1600" u="none" cap="none" strike="noStrike"/>
          </a:p>
        </p:txBody>
      </p:sp>
      <p:sp>
        <p:nvSpPr>
          <p:cNvPr id="121" name="Google Shape;121;p6"/>
          <p:cNvSpPr/>
          <p:nvPr/>
        </p:nvSpPr>
        <p:spPr>
          <a:xfrm>
            <a:off x="7406997" y="2246471"/>
            <a:ext cx="6429613" cy="2954655"/>
          </a:xfrm>
          <a:prstGeom prst="roundRect">
            <a:avLst>
              <a:gd fmla="val 2902" name="adj"/>
            </a:avLst>
          </a:prstGeom>
          <a:solidFill>
            <a:srgbClr val="FAFAFA">
              <a:alpha val="94901"/>
            </a:srgbClr>
          </a:solidFill>
          <a:ln cap="flat" cmpd="sng" w="22850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429857" y="2269331"/>
            <a:ext cx="6383893" cy="612338"/>
          </a:xfrm>
          <a:prstGeom prst="roundRect">
            <a:avLst>
              <a:gd fmla="val 9522" name="adj"/>
            </a:avLst>
          </a:prstGeom>
          <a:solidFill>
            <a:srgbClr val="E9E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468689" y="2380297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400"/>
              <a:buFont typeface="Outfit ExtraBold"/>
              <a:buNone/>
            </a:pPr>
            <a:r>
              <a:rPr b="1" i="0" lang="en-US" sz="24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2</a:t>
            </a:r>
            <a:endParaRPr b="0" i="0" sz="2400" u="none" cap="none" strike="noStrike"/>
          </a:p>
        </p:txBody>
      </p:sp>
      <p:sp>
        <p:nvSpPr>
          <p:cNvPr id="124" name="Google Shape;124;p6"/>
          <p:cNvSpPr/>
          <p:nvPr/>
        </p:nvSpPr>
        <p:spPr>
          <a:xfrm>
            <a:off x="7633930" y="3065383"/>
            <a:ext cx="327052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00"/>
              <a:buFont typeface="Outfit ExtraBold"/>
              <a:buNone/>
            </a:pPr>
            <a:r>
              <a:rPr b="1" i="0" lang="en-US" sz="20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Переменные окружения</a:t>
            </a:r>
            <a:endParaRPr b="0" i="0" sz="2000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7633930" y="3494365"/>
            <a:ext cx="5975747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Используются переменные окружения (os.getenv) для:</a:t>
            </a:r>
            <a:endParaRPr b="0" i="0" sz="1600" u="none" cap="none" strike="noStrike"/>
          </a:p>
        </p:txBody>
      </p:sp>
      <p:sp>
        <p:nvSpPr>
          <p:cNvPr id="126" name="Google Shape;126;p6"/>
          <p:cNvSpPr/>
          <p:nvPr/>
        </p:nvSpPr>
        <p:spPr>
          <a:xfrm>
            <a:off x="7633930" y="3914775"/>
            <a:ext cx="5975747" cy="1059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Char char="•"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Django SECRET_KEY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Char char="•"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ключа шифрования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Char char="•"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статуса отладки</a:t>
            </a:r>
            <a:endParaRPr b="0" i="0" sz="16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793790" y="5384840"/>
            <a:ext cx="6429494" cy="2095381"/>
          </a:xfrm>
          <a:prstGeom prst="roundRect">
            <a:avLst>
              <a:gd fmla="val 4092" name="adj"/>
            </a:avLst>
          </a:prstGeom>
          <a:solidFill>
            <a:srgbClr val="FAFAFA">
              <a:alpha val="94901"/>
            </a:srgbClr>
          </a:solidFill>
          <a:ln cap="flat" cmpd="sng" w="22850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16650" y="5407700"/>
            <a:ext cx="6383774" cy="612338"/>
          </a:xfrm>
          <a:prstGeom prst="roundRect">
            <a:avLst>
              <a:gd fmla="val 9522" name="adj"/>
            </a:avLst>
          </a:prstGeom>
          <a:solidFill>
            <a:srgbClr val="E9E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855482" y="5518666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400"/>
              <a:buFont typeface="Outfit ExtraBold"/>
              <a:buNone/>
            </a:pPr>
            <a:r>
              <a:rPr b="1" i="0" lang="en-US" sz="24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3</a:t>
            </a:r>
            <a:endParaRPr b="0" i="0" sz="24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1020723" y="6203752"/>
            <a:ext cx="3311247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00"/>
              <a:buFont typeface="Outfit ExtraBold"/>
              <a:buNone/>
            </a:pPr>
            <a:r>
              <a:rPr b="1" i="0" lang="en-US" sz="20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Предотвращение утечек</a:t>
            </a:r>
            <a:endParaRPr b="0" i="0" sz="200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1020723" y="6632734"/>
            <a:ext cx="5975628" cy="6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Предотвращение утечки ключей при публикации кода в репозиторий</a:t>
            </a:r>
            <a:endParaRPr b="0" i="0" sz="16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7406997" y="5384840"/>
            <a:ext cx="6429613" cy="2095381"/>
          </a:xfrm>
          <a:prstGeom prst="roundRect">
            <a:avLst>
              <a:gd fmla="val 4092" name="adj"/>
            </a:avLst>
          </a:prstGeom>
          <a:solidFill>
            <a:srgbClr val="FAFAFA">
              <a:alpha val="94901"/>
            </a:srgbClr>
          </a:solidFill>
          <a:ln cap="flat" cmpd="sng" w="22850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429857" y="5407700"/>
            <a:ext cx="6383893" cy="612338"/>
          </a:xfrm>
          <a:prstGeom prst="roundRect">
            <a:avLst>
              <a:gd fmla="val 9522" name="adj"/>
            </a:avLst>
          </a:prstGeom>
          <a:solidFill>
            <a:srgbClr val="E9E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0468689" y="5518666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400"/>
              <a:buFont typeface="Outfit ExtraBold"/>
              <a:buNone/>
            </a:pPr>
            <a:r>
              <a:rPr b="1" i="0" lang="en-US" sz="24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4</a:t>
            </a:r>
            <a:endParaRPr b="0" i="0" sz="240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7633930" y="6203752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000"/>
              <a:buFont typeface="Outfit ExtraBold"/>
              <a:buNone/>
            </a:pPr>
            <a:r>
              <a:rPr b="1" i="0" lang="en-US" sz="20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Лучшая практика</a:t>
            </a:r>
            <a:endParaRPr b="0" i="0" sz="20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7633930" y="6632734"/>
            <a:ext cx="5975747" cy="6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Каждое окружение (разработка, тестирование, production) имеет свои ключи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793790" y="807958"/>
            <a:ext cx="5687616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200"/>
              <a:buFont typeface="Outfit ExtraBold"/>
              <a:buNone/>
            </a:pPr>
            <a:r>
              <a:rPr b="1" i="0" lang="en-US" sz="42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Валидация паролей</a:t>
            </a:r>
            <a:endParaRPr b="0" i="0" sz="4200" u="none" cap="none" strike="noStrike"/>
          </a:p>
        </p:txBody>
      </p:sp>
      <p:sp>
        <p:nvSpPr>
          <p:cNvPr id="143" name="Google Shape;143;p7"/>
          <p:cNvSpPr/>
          <p:nvPr/>
        </p:nvSpPr>
        <p:spPr>
          <a:xfrm>
            <a:off x="793790" y="1563172"/>
            <a:ext cx="7458789" cy="538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350"/>
              <a:buFont typeface="Outfit ExtraBold"/>
              <a:buNone/>
            </a:pPr>
            <a:r>
              <a:rPr b="1" i="0" lang="en-US" sz="3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Стандартные валидаторы Django</a:t>
            </a:r>
            <a:endParaRPr b="0" i="0" sz="3350" u="none" cap="none" strike="noStrike"/>
          </a:p>
        </p:txBody>
      </p:sp>
      <p:sp>
        <p:nvSpPr>
          <p:cNvPr id="144" name="Google Shape;144;p7"/>
          <p:cNvSpPr/>
          <p:nvPr/>
        </p:nvSpPr>
        <p:spPr>
          <a:xfrm>
            <a:off x="793790" y="2408992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Включен стандартный набор валидаторов, который запрещает:</a:t>
            </a:r>
            <a:endParaRPr b="0" i="0" sz="165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793790" y="2975372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483281" y="3049429"/>
            <a:ext cx="3690580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1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Слишком простые пароли</a:t>
            </a:r>
            <a:endParaRPr b="0" i="0" sz="2100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793790" y="3869531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483281" y="3943588"/>
            <a:ext cx="5210532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1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Пароли, похожие на логин или почту</a:t>
            </a:r>
            <a:endParaRPr b="0" i="0" sz="210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793790" y="4763691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483281" y="4837748"/>
            <a:ext cx="4980742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1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Пароли, состоящие только из цифр</a:t>
            </a:r>
            <a:endParaRPr b="0" i="0" sz="210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793790" y="5657850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483281" y="5731907"/>
            <a:ext cx="731531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1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Короткие пароли (менее 8 символов по умолчанию)</a:t>
            </a:r>
            <a:endParaRPr b="0" i="0" sz="21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793790" y="6552009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483281" y="6626066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100"/>
              <a:buFont typeface="Outfit ExtraBold"/>
              <a:buNone/>
            </a:pPr>
            <a:r>
              <a:rPr b="1" i="0" lang="en-US" sz="21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Результат</a:t>
            </a:r>
            <a:endParaRPr b="0" i="0" sz="210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1483281" y="7085409"/>
            <a:ext cx="12353330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650"/>
              <a:buFont typeface="Arimo"/>
              <a:buNone/>
            </a:pPr>
            <a:r>
              <a:rPr b="0" i="0" lang="en-US" sz="16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Гарантия того, что все пользователи используют надежные пароли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2026-05-01T13:54:32Z</dcterms:created>
</cp:coreProperties>
</file>