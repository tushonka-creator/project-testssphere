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Play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jDpq/fw29OXBwng/jZBpRPRGy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92118338e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92118338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92118338e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92118338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92118338e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92118338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92118338e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92118338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92118338e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92118338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92118338e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92118338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3" name="Google Shape;2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8" name="Google Shape;38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4" name="Google Shape;54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5" name="Google Shape;5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"/>
          <p:cNvSpPr txBox="1"/>
          <p:nvPr>
            <p:ph idx="1" type="body"/>
          </p:nvPr>
        </p:nvSpPr>
        <p:spPr>
          <a:xfrm>
            <a:off x="856125" y="6030000"/>
            <a:ext cx="48627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Выполнил Тушин Иван ИИ-72</a:t>
            </a:r>
            <a:endParaRPr/>
          </a:p>
        </p:txBody>
      </p:sp>
      <p:sp>
        <p:nvSpPr>
          <p:cNvPr id="83" name="Google Shape;83;p1"/>
          <p:cNvSpPr/>
          <p:nvPr/>
        </p:nvSpPr>
        <p:spPr>
          <a:xfrm>
            <a:off x="3474359" y="583345"/>
            <a:ext cx="139039" cy="139039"/>
          </a:xfrm>
          <a:custGeom>
            <a:rect b="b" l="l" r="r" t="t"/>
            <a:pathLst>
              <a:path extrusionOk="0" h="139039" w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"/>
          <p:cNvSpPr/>
          <p:nvPr/>
        </p:nvSpPr>
        <p:spPr>
          <a:xfrm>
            <a:off x="3833139" y="812640"/>
            <a:ext cx="91138" cy="91138"/>
          </a:xfrm>
          <a:custGeom>
            <a:rect b="b" l="l" r="r" t="t"/>
            <a:pathLst>
              <a:path extrusionOk="0" h="91138" w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3458819" y="1037066"/>
            <a:ext cx="127714" cy="127714"/>
          </a:xfrm>
          <a:custGeom>
            <a:rect b="b" l="l" r="r" t="t"/>
            <a:pathLst>
              <a:path extrusionOk="0" h="127714" w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" name="Google Shape;86;p1"/>
          <p:cNvCxnSpPr/>
          <p:nvPr/>
        </p:nvCxnSpPr>
        <p:spPr>
          <a:xfrm>
            <a:off x="856114" y="3503032"/>
            <a:ext cx="0" cy="3346090"/>
          </a:xfrm>
          <a:prstGeom prst="straightConnector1">
            <a:avLst/>
          </a:prstGeom>
          <a:noFill/>
          <a:ln cap="sq" cmpd="sng" w="254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</p:cxnSp>
      <p:sp>
        <p:nvSpPr>
          <p:cNvPr id="87" name="Google Shape;87;p1"/>
          <p:cNvSpPr/>
          <p:nvPr/>
        </p:nvSpPr>
        <p:spPr>
          <a:xfrm>
            <a:off x="10836425" y="5636680"/>
            <a:ext cx="151536" cy="151536"/>
          </a:xfrm>
          <a:custGeom>
            <a:rect b="b" l="l" r="r" t="t"/>
            <a:pathLst>
              <a:path extrusionOk="0" h="151536" w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11245175" y="6096759"/>
            <a:ext cx="108625" cy="108625"/>
          </a:xfrm>
          <a:custGeom>
            <a:rect b="b" l="l" r="r" t="t"/>
            <a:pathLst>
              <a:path extrusionOk="0" h="108625" w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0554288" y="6238029"/>
            <a:ext cx="95759" cy="95759"/>
          </a:xfrm>
          <a:custGeom>
            <a:rect b="b" l="l" r="r" t="t"/>
            <a:pathLst>
              <a:path extrusionOk="0" h="95759" w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>
            <p:ph type="title"/>
          </p:nvPr>
        </p:nvSpPr>
        <p:spPr>
          <a:xfrm>
            <a:off x="895000" y="8126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Play"/>
              <a:buNone/>
            </a:pPr>
            <a:r>
              <a:rPr lang="en-US" sz="8000">
                <a:solidFill>
                  <a:srgbClr val="FFFFFF"/>
                </a:solidFill>
              </a:rPr>
              <a:t>Проект “Сфера Тестов”</a:t>
            </a:r>
            <a:endParaRPr sz="80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92118338e_0_46"/>
          <p:cNvSpPr txBox="1"/>
          <p:nvPr>
            <p:ph type="title"/>
          </p:nvPr>
        </p:nvSpPr>
        <p:spPr>
          <a:xfrm>
            <a:off x="2250975" y="301225"/>
            <a:ext cx="96333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/>
              <a:t>О чем мой проект?</a:t>
            </a:r>
            <a:endParaRPr sz="8000"/>
          </a:p>
        </p:txBody>
      </p:sp>
      <p:sp>
        <p:nvSpPr>
          <p:cNvPr id="96" name="Google Shape;96;g3d92118338e_0_46"/>
          <p:cNvSpPr txBox="1"/>
          <p:nvPr>
            <p:ph idx="1" type="body"/>
          </p:nvPr>
        </p:nvSpPr>
        <p:spPr>
          <a:xfrm>
            <a:off x="887900" y="235807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/>
              <a:t>Это современная веб-платформа для психологического и медицинского самотестирования. Мы даем людям возможность быстро, анонимно и бесплатно проверить показатели своего здоровья (от тестов на дальтонизм и аутизм до шкал уровня депрессии и стресса) и получить мгновенную профессиональную интерпретацию результата.</a:t>
            </a:r>
            <a:endParaRPr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Play"/>
              <a:buNone/>
            </a:pPr>
            <a:r>
              <a:rPr lang="en-US" sz="8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Мой гитхаб</a:t>
            </a:r>
            <a:endParaRPr sz="80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3474359" y="583345"/>
            <a:ext cx="139039" cy="139039"/>
          </a:xfrm>
          <a:custGeom>
            <a:rect b="b" l="l" r="r" t="t"/>
            <a:pathLst>
              <a:path extrusionOk="0" h="139039" w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3833139" y="812640"/>
            <a:ext cx="91138" cy="91138"/>
          </a:xfrm>
          <a:custGeom>
            <a:rect b="b" l="l" r="r" t="t"/>
            <a:pathLst>
              <a:path extrusionOk="0" h="91138" w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3458819" y="1037066"/>
            <a:ext cx="127714" cy="127714"/>
          </a:xfrm>
          <a:custGeom>
            <a:rect b="b" l="l" r="r" t="t"/>
            <a:pathLst>
              <a:path extrusionOk="0" h="127714" w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" name="Google Shape;106;p2"/>
          <p:cNvCxnSpPr/>
          <p:nvPr/>
        </p:nvCxnSpPr>
        <p:spPr>
          <a:xfrm>
            <a:off x="856114" y="3503032"/>
            <a:ext cx="0" cy="3346090"/>
          </a:xfrm>
          <a:prstGeom prst="straightConnector1">
            <a:avLst/>
          </a:prstGeom>
          <a:noFill/>
          <a:ln cap="sq" cmpd="sng" w="254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</p:cxnSp>
      <p:sp>
        <p:nvSpPr>
          <p:cNvPr id="107" name="Google Shape;107;p2"/>
          <p:cNvSpPr/>
          <p:nvPr/>
        </p:nvSpPr>
        <p:spPr>
          <a:xfrm>
            <a:off x="10836425" y="5636680"/>
            <a:ext cx="151536" cy="151536"/>
          </a:xfrm>
          <a:custGeom>
            <a:rect b="b" l="l" r="r" t="t"/>
            <a:pathLst>
              <a:path extrusionOk="0" h="151536" w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11245175" y="6096759"/>
            <a:ext cx="108625" cy="108625"/>
          </a:xfrm>
          <a:custGeom>
            <a:rect b="b" l="l" r="r" t="t"/>
            <a:pathLst>
              <a:path extrusionOk="0" h="108625" w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10554288" y="6238029"/>
            <a:ext cx="95759" cy="95759"/>
          </a:xfrm>
          <a:custGeom>
            <a:rect b="b" l="l" r="r" t="t"/>
            <a:pathLst>
              <a:path extrusionOk="0" h="95759" w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8879" y="1465309"/>
            <a:ext cx="5309037" cy="5309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Play"/>
              <a:buNone/>
            </a:pPr>
            <a:r>
              <a:rPr lang="en-US" sz="8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Проблема</a:t>
            </a:r>
            <a:endParaRPr sz="80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7" name="Google Shape;117;p3"/>
          <p:cNvSpPr txBox="1"/>
          <p:nvPr>
            <p:ph idx="1" type="body"/>
          </p:nvPr>
        </p:nvSpPr>
        <p:spPr>
          <a:xfrm>
            <a:off x="729575" y="3032500"/>
            <a:ext cx="10515600" cy="3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b="1" lang="en-US" sz="2000"/>
              <a:t>Платный доступ:</a:t>
            </a:r>
            <a:r>
              <a:rPr lang="en-US" sz="2000"/>
              <a:t> Многие качественные тесты скрывают результаты за оплатой в конце теста.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b="1" lang="en-US" sz="2000"/>
              <a:t>Низкое качество:</a:t>
            </a:r>
            <a:r>
              <a:rPr lang="en-US" sz="2000"/>
              <a:t> Развлекательные порталы предлагают антинаучные тесты, которые только вводят в заблуждение.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b="1" lang="en-US" sz="2000"/>
              <a:t>Сложный интерфейс:</a:t>
            </a:r>
            <a:r>
              <a:rPr lang="en-US" sz="2000"/>
              <a:t> Существующие медицинские или психологические сайты часто имеют устаревший дизайн, перегруженный текстом и мешающей рекламой.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b="1" lang="en-US" sz="2000"/>
              <a:t>Разрозненность:</a:t>
            </a:r>
            <a:r>
              <a:rPr lang="en-US" sz="2000"/>
              <a:t> Нет единой удобной платформы, где собраны проверенные методики по разным направлениям.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</a:pPr>
            <a:r>
              <a:t/>
            </a:r>
            <a:endParaRPr b="1" sz="2000"/>
          </a:p>
        </p:txBody>
      </p:sp>
      <p:sp>
        <p:nvSpPr>
          <p:cNvPr id="118" name="Google Shape;118;p3"/>
          <p:cNvSpPr/>
          <p:nvPr/>
        </p:nvSpPr>
        <p:spPr>
          <a:xfrm>
            <a:off x="3474359" y="583345"/>
            <a:ext cx="139039" cy="139039"/>
          </a:xfrm>
          <a:custGeom>
            <a:rect b="b" l="l" r="r" t="t"/>
            <a:pathLst>
              <a:path extrusionOk="0" h="139039" w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3833139" y="812640"/>
            <a:ext cx="91138" cy="91138"/>
          </a:xfrm>
          <a:custGeom>
            <a:rect b="b" l="l" r="r" t="t"/>
            <a:pathLst>
              <a:path extrusionOk="0" h="91138" w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3458819" y="1037066"/>
            <a:ext cx="127714" cy="127714"/>
          </a:xfrm>
          <a:custGeom>
            <a:rect b="b" l="l" r="r" t="t"/>
            <a:pathLst>
              <a:path extrusionOk="0" h="127714" w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" name="Google Shape;121;p3"/>
          <p:cNvCxnSpPr/>
          <p:nvPr/>
        </p:nvCxnSpPr>
        <p:spPr>
          <a:xfrm>
            <a:off x="856114" y="3503032"/>
            <a:ext cx="0" cy="3346090"/>
          </a:xfrm>
          <a:prstGeom prst="straightConnector1">
            <a:avLst/>
          </a:prstGeom>
          <a:noFill/>
          <a:ln cap="sq" cmpd="sng" w="254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</p:cxnSp>
      <p:sp>
        <p:nvSpPr>
          <p:cNvPr id="122" name="Google Shape;122;p3"/>
          <p:cNvSpPr/>
          <p:nvPr/>
        </p:nvSpPr>
        <p:spPr>
          <a:xfrm>
            <a:off x="10836425" y="5636680"/>
            <a:ext cx="151536" cy="151536"/>
          </a:xfrm>
          <a:custGeom>
            <a:rect b="b" l="l" r="r" t="t"/>
            <a:pathLst>
              <a:path extrusionOk="0" h="151536" w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11245175" y="6096759"/>
            <a:ext cx="108625" cy="108625"/>
          </a:xfrm>
          <a:custGeom>
            <a:rect b="b" l="l" r="r" t="t"/>
            <a:pathLst>
              <a:path extrusionOk="0" h="108625" w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10554288" y="6238029"/>
            <a:ext cx="95759" cy="95759"/>
          </a:xfrm>
          <a:custGeom>
            <a:rect b="b" l="l" r="r" t="t"/>
            <a:pathLst>
              <a:path extrusionOk="0" h="95759" w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1"/>
            <a:ext cx="1803249" cy="1803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92118338e_0_1"/>
          <p:cNvSpPr txBox="1"/>
          <p:nvPr>
            <p:ph type="title"/>
          </p:nvPr>
        </p:nvSpPr>
        <p:spPr>
          <a:xfrm>
            <a:off x="3446100" y="113600"/>
            <a:ext cx="8745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/>
              <a:t>Финансирование</a:t>
            </a:r>
            <a:endParaRPr sz="8000"/>
          </a:p>
        </p:txBody>
      </p:sp>
      <p:sp>
        <p:nvSpPr>
          <p:cNvPr id="131" name="Google Shape;131;g3d92118338e_0_1"/>
          <p:cNvSpPr txBox="1"/>
          <p:nvPr>
            <p:ph idx="1" type="body"/>
          </p:nvPr>
        </p:nvSpPr>
        <p:spPr>
          <a:xfrm>
            <a:off x="838200" y="3500000"/>
            <a:ext cx="10515600" cy="326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/>
          </a:bodyPr>
          <a:lstStyle/>
          <a:p>
            <a:pPr indent="-341948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b="1" lang="en-US" sz="2550"/>
              <a:t>Первоначальные инвестиции:</a:t>
            </a:r>
            <a:r>
              <a:rPr lang="en-US" sz="2550"/>
              <a:t> Собственные ресурсы на разработку</a:t>
            </a:r>
            <a:endParaRPr sz="2550"/>
          </a:p>
          <a:p>
            <a:pPr indent="0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2979"/>
          </a:p>
          <a:p>
            <a:pPr indent="-341948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b="1" lang="en-US" sz="2550"/>
              <a:t>Привлечение средств:</a:t>
            </a:r>
            <a:r>
              <a:rPr lang="en-US" sz="2550"/>
              <a:t> В дальнейшем планируется участие в грантовых программах в области Mental Health и EdTech, а также привлечение частных инвестиций для расширения базы тестов и найма экспертов-психологов для верификации контента.</a:t>
            </a:r>
            <a:endParaRPr sz="2550"/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F1F1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g3d92118338e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1"/>
            <a:ext cx="1803249" cy="1803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92118338e_0_12"/>
          <p:cNvSpPr txBox="1"/>
          <p:nvPr>
            <p:ph type="title"/>
          </p:nvPr>
        </p:nvSpPr>
        <p:spPr>
          <a:xfrm>
            <a:off x="6851375" y="279925"/>
            <a:ext cx="4890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/>
              <a:t>Аналоги</a:t>
            </a:r>
            <a:endParaRPr sz="8000"/>
          </a:p>
        </p:txBody>
      </p:sp>
      <p:sp>
        <p:nvSpPr>
          <p:cNvPr id="138" name="Google Shape;138;g3d92118338e_0_12"/>
          <p:cNvSpPr txBox="1"/>
          <p:nvPr>
            <p:ph idx="1" type="body"/>
          </p:nvPr>
        </p:nvSpPr>
        <p:spPr>
          <a:xfrm>
            <a:off x="838200" y="2862125"/>
            <a:ext cx="10515600" cy="326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Крупные психологические порталы (например, Психология.ру):</a:t>
            </a:r>
            <a:r>
              <a:rPr lang="en-US" sz="2000"/>
              <a:t> Много контента, но устаревший UX и избыточная реклама.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Зарубежные сервисы (Psychology Today, Enchroma):</a:t>
            </a:r>
            <a:r>
              <a:rPr lang="en-US" sz="2000"/>
              <a:t> Качественные, но часто англоязычные или узкоспециализированные.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Мобильные приложения:</a:t>
            </a:r>
            <a:r>
              <a:rPr lang="en-US" sz="2000"/>
              <a:t> Большинство из них платные по подписке и требуют обязательной установки.</a:t>
            </a:r>
            <a:endParaRPr sz="2000"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g3d92118338e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1"/>
            <a:ext cx="1803249" cy="1803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92118338e_0_18"/>
          <p:cNvSpPr txBox="1"/>
          <p:nvPr>
            <p:ph idx="1" type="body"/>
          </p:nvPr>
        </p:nvSpPr>
        <p:spPr>
          <a:xfrm>
            <a:off x="866600" y="1810350"/>
            <a:ext cx="10515600" cy="466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b="1" lang="en-US" sz="2000"/>
              <a:t>Бескомпромиссная прозрачность:</a:t>
            </a:r>
            <a:r>
              <a:rPr lang="en-US" sz="2000"/>
              <a:t> Мой проект дает полный профессиональный результат сразу и бесплатно.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b="1" lang="en-US" sz="2000"/>
              <a:t>Современный стек:</a:t>
            </a:r>
            <a:r>
              <a:rPr lang="en-US" sz="2000"/>
              <a:t> Быстрый отклик интерфейса, адаптивность под любые устройства и высокая безопасность данных.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b="1" lang="en-US" sz="2000"/>
              <a:t>Фокус на пользователе:</a:t>
            </a:r>
            <a:r>
              <a:rPr lang="en-US" sz="2000"/>
              <a:t> Минималистичный дизайн не отвлекает от прохождения тестов.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b="1" lang="en-US" sz="2000"/>
              <a:t>Анонимность:</a:t>
            </a:r>
            <a:r>
              <a:rPr lang="en-US" sz="2000"/>
              <a:t> Возможность пройти диагностику без регистрации, что критично для психологических тестов.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b="1" lang="en-US" sz="2000"/>
              <a:t>Масштабируемость:</a:t>
            </a:r>
            <a:r>
              <a:rPr lang="en-US" sz="2000"/>
              <a:t> Архитектура позволяет легко добавлять новые категории тестов — от школьных олимпиад до глубоких клинических опросников.</a:t>
            </a:r>
            <a:endParaRPr sz="2000"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d92118338e_0_18"/>
          <p:cNvSpPr txBox="1"/>
          <p:nvPr>
            <p:ph type="title"/>
          </p:nvPr>
        </p:nvSpPr>
        <p:spPr>
          <a:xfrm>
            <a:off x="3038550" y="336725"/>
            <a:ext cx="86613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/>
              <a:t>Мое преимущество</a:t>
            </a:r>
            <a:endParaRPr sz="8000"/>
          </a:p>
        </p:txBody>
      </p:sp>
      <p:pic>
        <p:nvPicPr>
          <p:cNvPr id="146" name="Google Shape;146;g3d92118338e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1"/>
            <a:ext cx="1803249" cy="1803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92118338e_0_26"/>
          <p:cNvSpPr txBox="1"/>
          <p:nvPr>
            <p:ph idx="1" type="body"/>
          </p:nvPr>
        </p:nvSpPr>
        <p:spPr>
          <a:xfrm>
            <a:off x="838200" y="19207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Я выбрал модель </a:t>
            </a:r>
            <a:r>
              <a:rPr b="1" lang="en-US" sz="1600"/>
              <a:t>Freemium-Ads</a:t>
            </a:r>
            <a:r>
              <a:rPr lang="en-US" sz="1600"/>
              <a:t>, которая делает проект жизнеспособным без вреда для кошелька пользователя: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-US" sz="1600"/>
              <a:t>Абсолютная бесплатность для пользователя:</a:t>
            </a:r>
            <a:r>
              <a:rPr lang="en-US" sz="1600"/>
              <a:t> Весь функционал доступен бесплатно, что обеспечивает низкий порог входа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-US" sz="1600"/>
              <a:t>Монетизация через рекламу:</a:t>
            </a:r>
            <a:r>
              <a:rPr lang="en-US" sz="1600"/>
              <a:t> Интеграция качественной баннерной рекламы (Google AdSense или аналоги), которая размещается в некритичных зонах сайта (например, после получения результата).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-US" sz="1600"/>
              <a:t>Партнерская программа (Future):</a:t>
            </a:r>
            <a:r>
              <a:rPr lang="en-US" sz="1600"/>
              <a:t> В перспективе — нативная рекомендация клиник или специалистов на основе результатов теста (CPA-модель), что дает дополнительный доход, оставаясь полезным для пользователя.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-US" sz="1600"/>
              <a:t>Низкие операционные расходы:</a:t>
            </a:r>
            <a:r>
              <a:rPr lang="en-US" sz="1600"/>
              <a:t> Благодаря оптимизированному коду и облачной инфраструктуре, затраты на поддержку большого количества пользователей остаются минимальными.</a:t>
            </a:r>
            <a:endParaRPr sz="1900"/>
          </a:p>
        </p:txBody>
      </p:sp>
      <p:sp>
        <p:nvSpPr>
          <p:cNvPr id="152" name="Google Shape;152;g3d92118338e_0_26"/>
          <p:cNvSpPr txBox="1"/>
          <p:nvPr>
            <p:ph type="title"/>
          </p:nvPr>
        </p:nvSpPr>
        <p:spPr>
          <a:xfrm>
            <a:off x="5821500" y="208925"/>
            <a:ext cx="56583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/>
              <a:t>Экономика</a:t>
            </a:r>
            <a:endParaRPr sz="8000"/>
          </a:p>
        </p:txBody>
      </p:sp>
      <p:pic>
        <p:nvPicPr>
          <p:cNvPr id="153" name="Google Shape;153;g3d92118338e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1"/>
            <a:ext cx="1803249" cy="1803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92118338e_0_39"/>
          <p:cNvSpPr txBox="1"/>
          <p:nvPr>
            <p:ph type="title"/>
          </p:nvPr>
        </p:nvSpPr>
        <p:spPr>
          <a:xfrm>
            <a:off x="3206825" y="2766150"/>
            <a:ext cx="61617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Спасибо за внимание!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2026-04-23T09:22:56Z</dcterms:created>
  <dc:creator>UnicumStudent</dc:creator>
</cp:coreProperties>
</file>